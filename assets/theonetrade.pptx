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10287000" cy="18288000"/>
  <p:embeddedFontLs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ibFpbFLuOSkiny2MByqUDLX4y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6.xml"/><Relationship Id="rId21" Type="http://schemas.openxmlformats.org/officeDocument/2006/relationships/font" Target="fonts/JetBrains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906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504950" y="1009650"/>
            <a:ext cx="10690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TheOne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612082" y="1009650"/>
            <a:ext cx="7877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2268200" y="952500"/>
            <a:ext cx="4972050" cy="419100"/>
          </a:xfrm>
          <a:prstGeom prst="roundRect">
            <a:avLst>
              <a:gd fmla="val 5000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2449175" y="1123950"/>
            <a:ext cx="76200" cy="7620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2601575" y="1038225"/>
            <a:ext cx="45914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v6.0 · backtest-kit · open source · 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47750" y="1454944"/>
            <a:ext cx="10791825" cy="250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Торговые системы, которые </a:t>
            </a:r>
            <a:r>
              <a:rPr b="1" i="0" lang="en-US" sz="54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думают </a:t>
            </a: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перед </a:t>
            </a:r>
            <a:r>
              <a:rPr b="1" i="0" lang="en-US" sz="54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сделкой.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7750" y="4228350"/>
            <a:ext cx="11155200" cy="3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AI-нативное торговое агентство с квант-командой. У нас есть Open Source runtime (backtest-kit), где LLM-рассуждения, анализ новостного сентимента используются для поиска оптимальной точки входа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47750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362075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362075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look-ahead bias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362075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33975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448300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48300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48300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TRX Jan 2026 case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9220200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534525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534525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паритет кода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534525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 = 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3306425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3620750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3620750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LLM-провайдеров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3620750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OpenAI · Claude · Ollama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047750" y="952500"/>
            <a:ext cx="1933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ПРОБЛЕМА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47750" y="1581150"/>
            <a:ext cx="13735050" cy="1527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95% торговых ботов используют одни и те же пять стратегий из туториалов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47750" y="3451622"/>
            <a:ext cx="762000" cy="28575"/>
          </a:xfrm>
          <a:prstGeom prst="roundRect">
            <a:avLst>
              <a:gd fmla="val 5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47750" y="3861197"/>
            <a:ext cx="8044815" cy="24000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Крипторынки перешли в режим хаоса второго порядка. Тысячи идентичных RSI / MACD / Bollinger ботов исполняют один и тот же сигнал в одном 100-миллисекундном окне — они создают шум, который пытаются торговать.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47750" y="6489799"/>
            <a:ext cx="8044815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Единственный бенефициар — комиссия биржи.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429750" y="3861197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F87171">
              <a:alpha val="12156"/>
            </a:srgbClr>
          </a:solidFill>
          <a:ln cap="flat" cmpd="sng" w="9525">
            <a:solidFill>
              <a:srgbClr val="F8717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591675" y="3927872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· 85%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793760" y="3861197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F87171">
              <a:alpha val="12156"/>
            </a:srgbClr>
          </a:solidFill>
          <a:ln cap="flat" cmpd="sng" w="9525">
            <a:solidFill>
              <a:srgbClr val="F8717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955685" y="3927872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MACD · 78%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260610" y="3861197"/>
            <a:ext cx="186690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2422535" y="3927872"/>
            <a:ext cx="1619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 cross · 72%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4241810" y="3861197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4403735" y="3927872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BB · 65%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429750" y="4442222"/>
            <a:ext cx="804481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Процент ритейл-ботов, использующих каждый индикатор. Комбинации тоже стандартны: RSI+MACD — самая популярная.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429750" y="5451872"/>
            <a:ext cx="7810500" cy="2000250"/>
          </a:xfrm>
          <a:prstGeom prst="roundRect">
            <a:avLst>
              <a:gd fmla="val 571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9820275" y="5804297"/>
            <a:ext cx="117351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−18%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5229433" y="5966222"/>
            <a:ext cx="16964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на бота / день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820275" y="6356747"/>
            <a:ext cx="724033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1 000 одинаковых ботов × 100 сделок/день × −0.18% за round-trip. Биржа зарабатывает +$8 000/день.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047750" y="952500"/>
            <a:ext cx="1933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ПРОБЛЕМА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47750" y="1581150"/>
            <a:ext cx="166782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Анатомия самоуничтожения: один алгоритм против себя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47750" y="2962275"/>
            <a:ext cx="7905750" cy="6219825"/>
          </a:xfrm>
          <a:prstGeom prst="roundRect">
            <a:avLst>
              <a:gd fmla="val 183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362075" y="3238500"/>
            <a:ext cx="7514273" cy="57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Каждые 100ms на бирже: 09:00.000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BTC падает до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$87,300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09:00.050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 ботов видят: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&lt; 30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«RSI в зоне перепроданности»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«Это сигнал на покупку» 09:00.100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Все отправляют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09:00.150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Цена прыгает до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$87,450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09:00.200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мгновенно = </a:t>
            </a:r>
            <a:r>
              <a:rPr b="0" i="0" lang="en-US" sz="15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75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«RSI в зоне перекупленности»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«Это сигнал на продажу» 09:00.250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Все отправляют </a:t>
            </a:r>
            <a:r>
              <a:rPr b="0" i="0" lang="en-US" sz="15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09:00.300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Цена обратно: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$87,300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334500" y="3014663"/>
            <a:ext cx="7905750" cy="1933575"/>
          </a:xfrm>
          <a:prstGeom prst="roundRect">
            <a:avLst>
              <a:gd fmla="val 5911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25025" y="3367088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ИТОГ ДЛЯ КАЖДОГО БОТА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725025" y="3709988"/>
            <a:ext cx="73384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−0.18%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725025" y="4224338"/>
            <a:ext cx="733844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−0.1% спред − 0.08% комиссии за round-trip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334500" y="5176838"/>
            <a:ext cx="7905750" cy="1933575"/>
          </a:xfrm>
          <a:prstGeom prst="roundRect">
            <a:avLst>
              <a:gd fmla="val 5911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725025" y="5529263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ИТОГ ДЛЯ БИРЖИ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725025" y="5872163"/>
            <a:ext cx="73384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+$8,000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725025" y="6386513"/>
            <a:ext cx="733844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0.08% × 1 000 ботов × 100 циклов/день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334500" y="7339012"/>
            <a:ext cx="7905750" cy="1790700"/>
          </a:xfrm>
          <a:prstGeom prst="roundRect">
            <a:avLst>
              <a:gd fmla="val 6383" name="adj"/>
            </a:avLst>
          </a:prstGeom>
          <a:solidFill>
            <a:srgbClr val="131A24"/>
          </a:solidFill>
          <a:ln cap="flat" cmpd="sng" w="9525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725025" y="7691438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ПРЕДСКАЗУЕМЫЕ СТОП-ЛОССЫ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725025" y="8034338"/>
            <a:ext cx="733844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90% ботов ставят SL по ATR × 1.5. Маркет-мейкеры видят кластеры и охотятся за ними.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1047750" y="1638807"/>
            <a:ext cx="2362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МЕТОДОЛОГИЯ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47750" y="2153150"/>
            <a:ext cx="163047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Четыре инженерных решения, которые </a:t>
            </a:r>
            <a:r>
              <a:rPr b="1" i="0" lang="en-US" sz="54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накапливают преимущество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47750" y="4219961"/>
            <a:ext cx="8829600" cy="28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Альфа стратегий затухает. Инфраструктура под ними — нет. Мы вкладываемся в то, что делает каждую итерацию достоверной, каждый сигнал — воспроизводимым, каждый запуск — бесшовным.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МЕТОДОЛОГИЯ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Решение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47750" y="1647825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Look-ahead bias архитектурно невозможен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47750" y="2604046"/>
            <a:ext cx="8103679" cy="19371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Каждый запрос данных проходит через временной контекст </a:t>
            </a:r>
            <a:r>
              <a:rPr b="0" i="0" lang="en-US" sz="24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 </a:t>
            </a: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. Стратегия физически не может получить данные из будущего — runtime откажет в доступе.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47750" y="4769793"/>
            <a:ext cx="7867650" cy="3143250"/>
          </a:xfrm>
          <a:prstGeom prst="roundRect">
            <a:avLst>
              <a:gd fmla="val 363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62075" y="5046018"/>
            <a:ext cx="747502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Нет параметров timestamp.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Контекст передаётся автоматически.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c1h 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"1h"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c15m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"15m"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c5m 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"5m"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→ все три синхронизированы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к одному тику бэктеста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372600" y="3432721"/>
            <a:ext cx="7867650" cy="1762125"/>
          </a:xfrm>
          <a:prstGeom prst="roundRect">
            <a:avLst>
              <a:gd fmla="val 648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686925" y="3747046"/>
            <a:ext cx="207272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848850" y="3813721"/>
            <a:ext cx="18250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873954" y="3747046"/>
            <a:ext cx="196988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2035879" y="3813721"/>
            <a:ext cx="17222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Promise.all-safe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686925" y="425187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Контекст сохраняется через все async-границы, включая параллельные запросы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372600" y="5385346"/>
            <a:ext cx="7867650" cy="1447800"/>
          </a:xfrm>
          <a:prstGeom prst="roundRect">
            <a:avLst>
              <a:gd fmla="val 7895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686925" y="5699671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848850" y="5766346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948095" y="5699671"/>
            <a:ext cx="83820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110020" y="5766346"/>
            <a:ext cx="590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Paper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1900595" y="5699671"/>
            <a:ext cx="73536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2062520" y="5766346"/>
            <a:ext cx="4877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686925" y="6204496"/>
            <a:ext cx="74561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Один и тот же код стратегии. Разница — только источник </a:t>
            </a:r>
            <a:r>
              <a:rPr b="0" i="0" lang="en-US" sz="165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372600" y="7023646"/>
            <a:ext cx="7867650" cy="1672530"/>
          </a:xfrm>
          <a:prstGeom prst="roundRect">
            <a:avLst>
              <a:gd fmla="val 683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686925" y="7337971"/>
            <a:ext cx="7456170" cy="3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Мульти-таймфрейм без ошибок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686925" y="775320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Синхронизация 1h / 15m / 5m данных происходит автоматически через контекст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МЕТОДОЛОГИЯ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Решение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47750" y="15716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LLM ищет новости перед принятием решения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750" y="3960841"/>
            <a:ext cx="81036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Восемь специализированных агентов опрашивают Tavily и открытые источники на предмет триггеров — действия SEC, взломы бирж, заявления президентов — за последние 4–12 часов.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50" y="5903556"/>
            <a:ext cx="81036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Reasoning + Acting (ReAct) </a:t>
            </a: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— агент чередует мышление и действие. Между шагами рассуждения он ищет в новостной ленте.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50" y="7446318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209675" y="7512993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 loop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552700" y="7446318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2714625" y="7512993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Tavily API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057650" y="7446318"/>
            <a:ext cx="166122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219575" y="7512993"/>
            <a:ext cx="14135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Zod-валидация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372600" y="3909549"/>
            <a:ext cx="7867800" cy="5208000"/>
          </a:xfrm>
          <a:prstGeom prst="roundRect">
            <a:avLst>
              <a:gd fmla="val 458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648825" y="4212075"/>
            <a:ext cx="6886800" cy="3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1 — Острые события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"BTC news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"SEC DOJ action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"exchange hack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t/>
            </a:r>
            <a:endParaRPr sz="1350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2 — Макро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"Fed surprise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t/>
            </a:r>
            <a:endParaRPr sz="1350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3 — Объём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"BTC volume spike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МЕТОДОЛОГИЯ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Решение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47750" y="1647825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Pine Script работает там, где нет TradingView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47750" y="2604046"/>
            <a:ext cx="8103679" cy="1927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PineTS исполняет .pine файлы локально на любых данных. Стратегии, созданные для BTC на Binance, разворачиваются без изменений на биржах развивающихся рынков.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47750" y="4760268"/>
            <a:ext cx="7867650" cy="2819400"/>
          </a:xfrm>
          <a:prstGeom prst="roundRect">
            <a:avLst>
              <a:gd fmla="val 405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362075" y="5036493"/>
            <a:ext cx="7475029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start -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--pine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./math/feb_2026.pine </a:t>
            </a:r>
            <a:endParaRPr b="0" i="0" sz="1500" u="none" cap="none" strike="noStrike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--timeframe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15m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--limit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</a:t>
            </a:r>
            <a:endParaRPr sz="1500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--when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"2026-02-28T00:00:00Z"</a:t>
            </a:r>
            <a:endParaRPr sz="1500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--jsonl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→ дамп для 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372600" y="336887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9610725" y="360699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UZSE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610725" y="394989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Узбекистан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610725" y="441662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715500" y="445472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3373100" y="336887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3611225" y="360699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611225" y="394989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Монголия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611225" y="441662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3716000" y="445472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372600" y="5035748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9610725" y="5273873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610725" y="5616773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Дакка, Бангладеш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610725" y="6083498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9715500" y="6121598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3373100" y="5035748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3611225" y="5273873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611225" y="5616773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Гана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3611225" y="6083498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3716000" y="6121598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372600" y="670262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610725" y="694074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SGBV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610725" y="728364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Алжир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610725" y="775037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9715500" y="778847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3373100" y="670262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3611225" y="694074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3611225" y="728364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Ботсвана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611225" y="775037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3716000" y="778847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254585" y="8388548"/>
            <a:ext cx="81036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60+ индикаторов · Pine Script v5/v6 · JSONL-native вывод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КЕЙСЫ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4653171" y="952500"/>
            <a:ext cx="258707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4815096" y="1019175"/>
            <a:ext cx="23408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Февраль 2026 · BTCUSDT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AI-воркфлоу для ликвидационных каскадов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47750" y="2484090"/>
            <a:ext cx="8103679" cy="16912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Claude Code анализирует новости, корреляцию с ценой и формулирует гипотезу — без итеративного перебора. Стратегия объясняет механику рынка, а не ищет случайные корреляции.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47750" y="440397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09700" y="4327773"/>
            <a:ext cx="4203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 фев — Flash crash ($60K)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09700" y="4699248"/>
            <a:ext cx="4203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V-bounce +15%, $700M ликвидаций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47750" y="526122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409700" y="5185023"/>
            <a:ext cx="36313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10 фев — Вторичный каскад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09700" y="5556498"/>
            <a:ext cx="36313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$71K → $67K, ETF-оттоки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47750" y="611847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409700" y="6042273"/>
            <a:ext cx="31927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23 фев — Тарифный шок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409700" y="6413748"/>
            <a:ext cx="31927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$67.7K → $62.5K, bounce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47750" y="6975723"/>
            <a:ext cx="810367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Стратегия: LONG после ликвидационного спайка (ATR × 2 + Volume × 1.8). Фиксированные выходы: TP +1.5%, SL −0.8%.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372600" y="3889921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648825" y="4166146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+4.28%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648825" y="4718596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Total PNL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3382625" y="3889921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3658850" y="4166146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83.3%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658850" y="4718596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Win 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9372600" y="5442496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9648825" y="5718721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4.58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648825" y="6271171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Profit Factor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3382625" y="5442496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3658850" y="5718721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3658850" y="6271171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Max Drawdown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372600" y="6995075"/>
            <a:ext cx="7867800" cy="1262400"/>
          </a:xfrm>
          <a:prstGeom prst="roundRect">
            <a:avLst>
              <a:gd fmla="val 1016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9648825" y="7195096"/>
            <a:ext cx="75346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SHARPE RATIO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648825" y="7537996"/>
            <a:ext cx="753465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000"/>
              <a:buFont typeface="JetBrains Mono"/>
              <a:buNone/>
            </a:pPr>
            <a:r>
              <a:rPr b="1" i="0" lang="en-US" sz="30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1" name="Google Shape;2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КЕЙСЫ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4756011" y="952500"/>
            <a:ext cx="2484239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4917936" y="1019175"/>
            <a:ext cx="22365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Январь 2026 · TRXUSDT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Инверсия алгоритма сбора ликвидности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047750" y="2484090"/>
            <a:ext cx="9724293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Telegram-канал рекомендует SHORT с x25 плечом — точно на дне 4H свечи. OSINT-анализ выявляет алгоритмический паттерн, инвертирование которого даёт стабильный профит.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47750" y="453836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276350" y="4143077"/>
            <a:ext cx="4762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ШАГ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905000" y="453836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133600" y="4143077"/>
            <a:ext cx="8384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ДЕЙСТВИЕ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47750" y="522416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276350" y="4719340"/>
            <a:ext cx="476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905000" y="522416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2133600" y="4719340"/>
            <a:ext cx="8384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Экспорт всех публичных сигналов с меткой времени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47750" y="6167140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276350" y="5405140"/>
            <a:ext cx="47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905000" y="6167140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133600" y="5405140"/>
            <a:ext cx="838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Идентификация алгоритма: TP-множители всегда ×1.52→×1.74→×1.47→×1.50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47750" y="711011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276350" y="6348115"/>
            <a:ext cx="47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905000" y="711011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133600" y="6348115"/>
            <a:ext cx="838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Аномалия объёма за 15 мин до каждого поста — канал открывает позиции до публикации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276350" y="7291090"/>
            <a:ext cx="4762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133600" y="7291090"/>
            <a:ext cx="8384125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Инвертируем позицию, фильтруем по середине 4H-диапазона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0946011" y="3389858"/>
            <a:ext cx="6294239" cy="1628775"/>
          </a:xfrm>
          <a:prstGeom prst="roundRect">
            <a:avLst>
              <a:gd fmla="val 701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1336536" y="3742283"/>
            <a:ext cx="56785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+8.54%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1336536" y="4370933"/>
            <a:ext cx="5678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Portfolio PnL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946011" y="5171033"/>
            <a:ext cx="6294239" cy="1628775"/>
          </a:xfrm>
          <a:prstGeom prst="roundRect">
            <a:avLst>
              <a:gd fmla="val 701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1336536" y="5523458"/>
            <a:ext cx="56785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336536" y="6152108"/>
            <a:ext cx="5678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0946011" y="6952208"/>
            <a:ext cx="3089970" cy="1666875"/>
          </a:xfrm>
          <a:prstGeom prst="roundRect">
            <a:avLst>
              <a:gd fmla="val 6857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11184136" y="7190333"/>
            <a:ext cx="26921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8/8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184136" y="7638008"/>
            <a:ext cx="26921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инвертированных сигналов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4150280" y="6952208"/>
            <a:ext cx="3089970" cy="1666875"/>
          </a:xfrm>
          <a:prstGeom prst="roundRect">
            <a:avLst>
              <a:gd fmla="val 6857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4388405" y="7190333"/>
            <a:ext cx="26921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 45 мин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4388405" y="7638008"/>
            <a:ext cx="26921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время удержания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КЕЙСЫ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4756011" y="952500"/>
            <a:ext cx="248423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4917936" y="1019175"/>
            <a:ext cx="22365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Апрель 2026 · BTCUSDT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Три решения агента во время иранского кризиса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047750" y="2484090"/>
            <a:ext cx="9810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Реальные выводы ReAct-пайплайна — поиск новостей, оценка противоречий, один сигнал с письменным обоснованием.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047750" y="3560415"/>
            <a:ext cx="5245001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438275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АПРЕЛЯ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438275" y="4274790"/>
            <a:ext cx="459786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Ультиматум США Ирану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438275" y="6216551"/>
            <a:ext cx="4597869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Геополитика создаёт неопределённость. RSI=44, объём низкий, Fear&amp;Greed=12. Сигналы противоречивы.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438275" y="8686800"/>
            <a:ext cx="979289" cy="485775"/>
          </a:xfrm>
          <a:prstGeom prst="roundRect">
            <a:avLst>
              <a:gd fmla="val 11765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676400" y="8791575"/>
            <a:ext cx="5792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64856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67%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521351" y="3560415"/>
            <a:ext cx="5245150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2DD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911876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АПРЕЛЯ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911876" y="4274790"/>
            <a:ext cx="45980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Перемирие с Ираном на 2 недели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911876" y="6366570"/>
            <a:ext cx="459802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Ралли до $72K, ликвидация $425M шортов, объём &gt;2M BTC/час. Острый бычий импульс.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911876" y="8686800"/>
            <a:ext cx="853529" cy="485775"/>
          </a:xfrm>
          <a:prstGeom prst="roundRect">
            <a:avLst>
              <a:gd fmla="val 11765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7150001" y="8791575"/>
            <a:ext cx="4534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038606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91%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1995100" y="3560415"/>
            <a:ext cx="5245150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2385625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АПРЕЛЯ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2385625" y="4274790"/>
            <a:ext cx="459802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Квантовые угрозы + продажи майнеров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2385625" y="6402288"/>
            <a:ext cx="4598023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Пробой $71K, но сильные медвежьи факторы: хешрейт падает, опционы-пут доминируют (премия ~17%).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2385625" y="8686800"/>
            <a:ext cx="979289" cy="485775"/>
          </a:xfrm>
          <a:prstGeom prst="roundRect">
            <a:avLst>
              <a:gd fmla="val 11765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2623750" y="8791575"/>
            <a:ext cx="5792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5512355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73%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1047750" y="952500"/>
            <a:ext cx="1362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СТЕК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47750" y="1543050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Открытый стек: от сигнала до исполнения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047750" y="3259325"/>
            <a:ext cx="7998600" cy="5505600"/>
          </a:xfrm>
          <a:prstGeom prst="roundRect">
            <a:avLst>
              <a:gd fmla="val 207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362075" y="3535550"/>
            <a:ext cx="786750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github.com/tripolskypetr/backtest-kit v6.0.0 · MIT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backtest-kit/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@backtest-kit/cli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scaffold·dump·backtest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@backtest-kit/pinets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Pine Script runtime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@backtest-kit/graph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reactive source/output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@backtest-kit/ui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trade lifecycle UI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@backtest-kit/ollama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10+ LLM провайдеров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agent-swarm-kit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 + tool-calling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functools-kit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Cache·str·AsyncLocal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garch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волатильность GARCH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372600" y="3089970"/>
            <a:ext cx="7867650" cy="2030611"/>
          </a:xfrm>
          <a:prstGeom prst="roundRect">
            <a:avLst>
              <a:gd fmla="val 562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9686925" y="3404295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Runtime с самопроверкой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9686925" y="3863280"/>
            <a:ext cx="74561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Look-ahead bias, отсутствие SL, некорректный R:R — всё перехватывается Zod-валидаторами и AsyncLocalStorage до отправки сигнала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372600" y="5311080"/>
            <a:ext cx="7867650" cy="1716286"/>
          </a:xfrm>
          <a:prstGeom prst="roundRect">
            <a:avLst>
              <a:gd fmla="val 666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9686925" y="5625405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Параллельное исполнение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686925" y="608439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Сотни стратегий работают через общий обработчик биржи, общий пул валидаторов риска, общую очередь. Monorepo-архитектура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372600" y="7217866"/>
            <a:ext cx="7867650" cy="1716286"/>
          </a:xfrm>
          <a:prstGeom prst="roundRect">
            <a:avLst>
              <a:gd fmla="val 666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9686925" y="7532191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JSONL-нативные логи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686925" y="7991177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Каждый тик, каждая цепочка рассуждений, каждое отклонение по риску — в формате JSON Lines. Claude Code читает их напрямую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1047750" y="952500"/>
            <a:ext cx="1647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УСЛУГИ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047750" y="1543050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Пять направлений работы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047750" y="4214217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1047750" y="279975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695450" y="2799755"/>
            <a:ext cx="1434331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Разработка AI-стратегий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1695450" y="3204567"/>
            <a:ext cx="1434331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Совместная разработка стратегии: анализ структуры рынка, формулировка гипотезы, Pine Script, валидация на календарных фреймах. Ежемесячная перекалибровка.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5887700" y="3197423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6049625" y="3264098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47750" y="5533430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1047750" y="4490442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695450" y="4490442"/>
            <a:ext cx="1466109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Дискреционное управление активами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695450" y="4895255"/>
            <a:ext cx="146610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Запуск стратегий под ваш мандат. JSONL-аудит каждой сделки, дашборд в реальном времени. Мин. $250K AUM.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6196221" y="4702373"/>
            <a:ext cx="1044029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6358146" y="4769048"/>
            <a:ext cx="7963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Managed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47750" y="6852642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47750" y="580965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695450" y="5809655"/>
            <a:ext cx="145551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Обучение квант-команд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695450" y="6214467"/>
            <a:ext cx="145551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Воркшопы: AsyncLocalStorage, ReAct-агенты, Pine Script → TypeScript, деплой swarm-kit. 2/5-дневные интенсивы.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6093380" y="6021586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6255305" y="6088261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047750" y="8171855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1047750" y="7128867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695450" y="7128867"/>
            <a:ext cx="1391946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Интеграция развивающихся рынков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695450" y="7533680"/>
            <a:ext cx="1391946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Скрейпинг, синтез свечей, data pipeline для 8 бирж без TradingView: UZSE, MSE, DSE, GSE и другие.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5476190" y="7340798"/>
            <a:ext cx="176406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5638115" y="7407473"/>
            <a:ext cx="15164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Infrastructure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047750" y="8448080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695450" y="8448080"/>
            <a:ext cx="145551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Enterprise-лицензия backtest-kit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695450" y="8852892"/>
            <a:ext cx="145551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Коммерческая лицензия, приоритетная поддержка, кастомные risk-валидаторы, SLA-деплой. Self-hosted или cloud.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6093380" y="8660011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6255305" y="8726686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0" name="Google Shape;3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1047750" y="952500"/>
            <a:ext cx="250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ИССЛЕДОВАНИЯ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047750" y="1543050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10 исследовательских статей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047750" y="24555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1285875" y="28031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796504" y="2693640"/>
            <a:ext cx="383293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Look-Ahead Bias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1796504" y="3065115"/>
            <a:ext cx="38329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AsyncLocalStorage как темпоральный контекст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220200" y="24555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9458325" y="28031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968954" y="2693640"/>
            <a:ext cx="340356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Хаос второго порядка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9968954" y="3065115"/>
            <a:ext cx="34035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Почему 1000 RSI-ботов теряют 18%/день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047750" y="36556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1285875" y="40033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1796504" y="3893790"/>
            <a:ext cx="39615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 получил руки для трейдинга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796504" y="4265265"/>
            <a:ext cx="3961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Claude Code + локальный Pine 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9220200" y="36556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9458325" y="40033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968954" y="3893790"/>
            <a:ext cx="436041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Почему цена падает одной свечой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9968954" y="4265265"/>
            <a:ext cx="43604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Gamma convexity и ликвидационные каскады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047750" y="48558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285875" y="52034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796504" y="5093940"/>
            <a:ext cx="33692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AI-воркфлоу для каскадов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796504" y="5465415"/>
            <a:ext cx="336922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Claude /loop, calendar-month стратегии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220200" y="48558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9458325" y="52034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9968954" y="5093940"/>
            <a:ext cx="347714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News Sentiment AI Blueprint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9968954" y="5465415"/>
            <a:ext cx="34771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ReAct-паттерн для торговых сигналов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047750" y="60559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1285875" y="64036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796504" y="6294090"/>
            <a:ext cx="418121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Новостной сентимент как сигнал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796504" y="6665565"/>
            <a:ext cx="41812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Векторный поиск, 24-часовое окно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9220200" y="60559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9458325" y="64036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9968954" y="6294090"/>
            <a:ext cx="35433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Liquidity Harvesting Machine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968954" y="6665565"/>
            <a:ext cx="35433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Инверсия Telegram-канала, Sharpe 1.08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1047750" y="72561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285875" y="76037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796504" y="7494240"/>
            <a:ext cx="47704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Pine Script на биржах без TradingView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796504" y="7865715"/>
            <a:ext cx="47704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UZSE, MSE, DSE — 8 региональных бирж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220200" y="72561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9458325" y="76037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9968954" y="7494240"/>
            <a:ext cx="44329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Почему брокер заморозил депозит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9968954" y="7865715"/>
            <a:ext cx="443292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DCA, усреднение и скрытые просадки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7719715" y="2223343"/>
            <a:ext cx="47625" cy="17145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7795915" y="2128093"/>
            <a:ext cx="47625" cy="2667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7872115" y="2185243"/>
            <a:ext cx="47625" cy="20955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7948315" y="2089993"/>
            <a:ext cx="47625" cy="3048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8024515" y="2242393"/>
            <a:ext cx="47625" cy="1524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8186440" y="2042368"/>
            <a:ext cx="13526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TheOne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9615339" y="2042368"/>
            <a:ext cx="99104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237275" y="2823425"/>
            <a:ext cx="77331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Готовая стратегия</a:t>
            </a:r>
            <a:endParaRPr b="1" sz="5100">
              <a:solidFill>
                <a:srgbClr val="F0F4F8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за 30 секунд.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8572500" y="4693890"/>
            <a:ext cx="1143000" cy="28575"/>
          </a:xfrm>
          <a:prstGeom prst="roundRect">
            <a:avLst>
              <a:gd fmla="val 5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374011" y="5103465"/>
            <a:ext cx="5539978" cy="1293316"/>
          </a:xfrm>
          <a:prstGeom prst="roundRect">
            <a:avLst>
              <a:gd fmla="val 883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757636" y="5341590"/>
            <a:ext cx="4772727" cy="855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npx</a:t>
            </a:r>
            <a:r>
              <a:rPr b="0" i="0" lang="en-US" sz="19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-y @backtest-kit/cli --init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832491" y="6930182"/>
            <a:ext cx="27359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832491" y="7254032"/>
            <a:ext cx="273597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tripolskypetr/backtest-kit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7945096" y="6930182"/>
            <a:ext cx="27963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945096" y="7254032"/>
            <a:ext cx="27963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tripolskypetr@gmail.com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11119842" y="6930182"/>
            <a:ext cx="23337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ДОКУМЕНТАЦИЯ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1119842" y="7254032"/>
            <a:ext cx="23337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backtest-kit.github.io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3625609" y="8235107"/>
            <a:ext cx="110366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© 2026 TheOneTrade · Стратегии симулированы на исторических данных · Прошлые результаты не гарантируют будущую доходность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2026-05-22T12:44:03Z</dcterms:created>
  <dc:creator>PptxGenJS</dc:creator>
</cp:coreProperties>
</file>