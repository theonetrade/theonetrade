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10287000" cx="18288000"/>
  <p:notesSz cx="10287000" cy="18288000"/>
  <p:embeddedFontLs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iibFpbFLuOSkiny2MByqUDLX4y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JetBrainsMono-bold.fntdata"/><Relationship Id="rId11" Type="http://schemas.openxmlformats.org/officeDocument/2006/relationships/slide" Target="slides/slide7.xml"/><Relationship Id="rId22" Type="http://schemas.openxmlformats.org/officeDocument/2006/relationships/font" Target="fonts/JetBrainsMono-boldItalic.fntdata"/><Relationship Id="rId10" Type="http://schemas.openxmlformats.org/officeDocument/2006/relationships/slide" Target="slides/slide6.xml"/><Relationship Id="rId21" Type="http://schemas.openxmlformats.org/officeDocument/2006/relationships/font" Target="fonts/JetBrainsMono-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23" Type="http://customschemas.google.com/relationships/presentationmetadata" Target="meta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JetBrainsMono-regular.fntdata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" name="Google Shape;4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" name="Google Shape;19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1" name="Google Shape;30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0" name="Google Shape;32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7" name="Google Shape;35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5" name="Google Shape;40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" name="Google Shape;1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7750" y="990600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/>
          <p:nvPr/>
        </p:nvSpPr>
        <p:spPr>
          <a:xfrm>
            <a:off x="1504950" y="1009650"/>
            <a:ext cx="10690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TheOne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2612082" y="1009650"/>
            <a:ext cx="787747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Trade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2268200" y="952500"/>
            <a:ext cx="4972050" cy="419100"/>
          </a:xfrm>
          <a:prstGeom prst="roundRect">
            <a:avLst>
              <a:gd fmla="val 50000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12449175" y="1123950"/>
            <a:ext cx="76200" cy="7620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12601575" y="1038225"/>
            <a:ext cx="459143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v6.0 · backtest-kit · open source · MIT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1047750" y="1454944"/>
            <a:ext cx="10791825" cy="25067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Торговые системы, которые </a:t>
            </a:r>
            <a:r>
              <a:rPr b="1" i="0" lang="en-US" sz="54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думают </a:t>
            </a:r>
            <a:r>
              <a:rPr b="1" i="0" lang="en-US" sz="54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перед </a:t>
            </a:r>
            <a:r>
              <a:rPr b="1" i="0" lang="en-US" sz="5400" u="none" cap="none" strike="noStrike">
                <a:solidFill>
                  <a:srgbClr val="EAB308"/>
                </a:solidFill>
                <a:latin typeface="Arial"/>
                <a:ea typeface="Arial"/>
                <a:cs typeface="Arial"/>
                <a:sym typeface="Arial"/>
              </a:rPr>
              <a:t>сделкой.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1047750" y="4228350"/>
            <a:ext cx="11155200" cy="34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3300"/>
              <a:buFont typeface="Arial"/>
              <a:buNone/>
            </a:pPr>
            <a:r>
              <a:rPr b="0" i="0" lang="en-US" sz="33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AI-нативное торговое агентство с квант-командой. У нас есть Open Source runtime (backtest-kit), где LLM-рассуждения, анализ новостного сентимента используются для поиска оптимальной точки входа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1047750" y="7705725"/>
            <a:ext cx="3933825" cy="1819275"/>
          </a:xfrm>
          <a:prstGeom prst="roundRect">
            <a:avLst>
              <a:gd fmla="val 628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1"/>
          <p:cNvSpPr/>
          <p:nvPr/>
        </p:nvSpPr>
        <p:spPr>
          <a:xfrm>
            <a:off x="1362075" y="7981950"/>
            <a:ext cx="340433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1362075" y="8610600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look-ahead bias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1362075" y="9001125"/>
            <a:ext cx="340433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AsyncLocalStorage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5133975" y="7705725"/>
            <a:ext cx="3933825" cy="1819275"/>
          </a:xfrm>
          <a:prstGeom prst="roundRect">
            <a:avLst>
              <a:gd fmla="val 628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"/>
          <p:cNvSpPr/>
          <p:nvPr/>
        </p:nvSpPr>
        <p:spPr>
          <a:xfrm>
            <a:off x="5448300" y="7981950"/>
            <a:ext cx="340433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1.08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5448300" y="8610600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Sharpe ratio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5448300" y="9001125"/>
            <a:ext cx="340433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TRX Jan 2026 case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9220200" y="7705725"/>
            <a:ext cx="3933825" cy="1819275"/>
          </a:xfrm>
          <a:prstGeom prst="roundRect">
            <a:avLst>
              <a:gd fmla="val 628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9534525" y="7981950"/>
            <a:ext cx="340433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100%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9534525" y="8610600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паритет кода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9534525" y="9001125"/>
            <a:ext cx="340433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backtest = live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13306425" y="7705725"/>
            <a:ext cx="3933825" cy="1819275"/>
          </a:xfrm>
          <a:prstGeom prst="roundRect">
            <a:avLst>
              <a:gd fmla="val 628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1"/>
          <p:cNvSpPr/>
          <p:nvPr/>
        </p:nvSpPr>
        <p:spPr>
          <a:xfrm>
            <a:off x="13620750" y="7981950"/>
            <a:ext cx="340433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10+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1"/>
          <p:cNvSpPr/>
          <p:nvPr/>
        </p:nvSpPr>
        <p:spPr>
          <a:xfrm>
            <a:off x="13620750" y="8610600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LLM-провайдеров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13620750" y="9001125"/>
            <a:ext cx="340433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OpenAI · Claude · Ollama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45" name="Google Shape;45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2"/>
          <p:cNvSpPr/>
          <p:nvPr/>
        </p:nvSpPr>
        <p:spPr>
          <a:xfrm>
            <a:off x="1047750" y="952500"/>
            <a:ext cx="19335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 / ПРОБЛЕМА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1047750" y="1581150"/>
            <a:ext cx="13735050" cy="152757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95% торговых ботов используют одни и те же пять стратегий из туториалов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1047750" y="3451622"/>
            <a:ext cx="762000" cy="28575"/>
          </a:xfrm>
          <a:prstGeom prst="roundRect">
            <a:avLst>
              <a:gd fmla="val 5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1047750" y="3861197"/>
            <a:ext cx="8044815" cy="240000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Крипторынки перешли в режим хаоса второго порядка. Тысячи идентичных RSI / MACD / Bollinger ботов исполняют один и тот же сигнал в одном 100-миллисекундном окне — они создают шум, который пытаются торговать.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1047750" y="6489799"/>
            <a:ext cx="8044815" cy="5104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Единственный бенефициар — комиссия биржи.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9429750" y="3861197"/>
            <a:ext cx="1249710" cy="352425"/>
          </a:xfrm>
          <a:prstGeom prst="roundRect">
            <a:avLst>
              <a:gd fmla="val 16216" name="adj"/>
            </a:avLst>
          </a:prstGeom>
          <a:solidFill>
            <a:srgbClr val="F87171">
              <a:alpha val="12156"/>
            </a:srgbClr>
          </a:solidFill>
          <a:ln cap="flat" cmpd="sng" w="9525">
            <a:solidFill>
              <a:srgbClr val="F87171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9591675" y="3927872"/>
            <a:ext cx="100206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RSI · 85%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10793760" y="3861197"/>
            <a:ext cx="1352550" cy="352425"/>
          </a:xfrm>
          <a:prstGeom prst="roundRect">
            <a:avLst>
              <a:gd fmla="val 16216" name="adj"/>
            </a:avLst>
          </a:prstGeom>
          <a:solidFill>
            <a:srgbClr val="F87171">
              <a:alpha val="12156"/>
            </a:srgbClr>
          </a:solidFill>
          <a:ln cap="flat" cmpd="sng" w="9525">
            <a:solidFill>
              <a:srgbClr val="F87171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10955685" y="3927872"/>
            <a:ext cx="11049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MACD · 78%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12260610" y="3861197"/>
            <a:ext cx="186690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12422535" y="3927872"/>
            <a:ext cx="16192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EMA cross · 72%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14241810" y="3861197"/>
            <a:ext cx="114687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14403735" y="3927872"/>
            <a:ext cx="8992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BB · 65%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9429750" y="4442222"/>
            <a:ext cx="8044815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Процент ритейл-ботов, использующих каждый индикатор. Комбинации тоже стандартны: RSI+MACD — самая популярная.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9429750" y="5451872"/>
            <a:ext cx="7810500" cy="2000250"/>
          </a:xfrm>
          <a:prstGeom prst="roundRect">
            <a:avLst>
              <a:gd fmla="val 5714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9820275" y="5804297"/>
            <a:ext cx="117351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−18%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15229433" y="5966222"/>
            <a:ext cx="1696492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на бота / день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9820275" y="6356747"/>
            <a:ext cx="7240334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1 000 одинаковых ботов × 100 сделок/день × −0.18% за round-trip. Биржа зарабатывает +$8 000/день.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69" name="Google Shape;6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"/>
          <p:cNvSpPr/>
          <p:nvPr/>
        </p:nvSpPr>
        <p:spPr>
          <a:xfrm>
            <a:off x="1047750" y="952500"/>
            <a:ext cx="19335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 / ПРОБЛЕМА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47750" y="1581150"/>
            <a:ext cx="16678275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Анатомия самоуничтожения: один алгоритм против себя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047750" y="2962275"/>
            <a:ext cx="7905750" cy="6219825"/>
          </a:xfrm>
          <a:prstGeom prst="roundRect">
            <a:avLst>
              <a:gd fmla="val 1838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3"/>
          <p:cNvSpPr/>
          <p:nvPr/>
        </p:nvSpPr>
        <p:spPr>
          <a:xfrm>
            <a:off x="1362075" y="3238500"/>
            <a:ext cx="7514273" cy="5705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Каждые 100ms на бирже: 09:00.000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BTC падает до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$87,300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09:00.050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1000 ботов видят: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RSI &lt; 30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 «RSI в зоне перепроданности»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 «Это сигнал на покупку» 09:00.100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Все отправляют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BUY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09:00.150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Цена прыгает до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$87,450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09:00.200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RSI мгновенно = </a:t>
            </a:r>
            <a:r>
              <a:rPr b="0" i="0" lang="en-US" sz="150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75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 «RSI в зоне перекупленности»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→ «Это сигнал на продажу» 09:00.250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Все отправляют </a:t>
            </a:r>
            <a:r>
              <a:rPr b="0" i="0" lang="en-US" sz="150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SELL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09:00.300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Цена обратно: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$87,300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9334500" y="3014663"/>
            <a:ext cx="7905750" cy="1933575"/>
          </a:xfrm>
          <a:prstGeom prst="roundRect">
            <a:avLst>
              <a:gd fmla="val 5911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3"/>
          <p:cNvSpPr/>
          <p:nvPr/>
        </p:nvSpPr>
        <p:spPr>
          <a:xfrm>
            <a:off x="9725025" y="3367088"/>
            <a:ext cx="733844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ИТОГ ДЛЯ КАЖДОГО БОТА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9725025" y="3709988"/>
            <a:ext cx="73384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3300"/>
              <a:buFont typeface="JetBrains Mono"/>
              <a:buNone/>
            </a:pPr>
            <a:r>
              <a:rPr b="1" i="0" lang="en-US" sz="3300" u="none" cap="none" strike="noStrike">
                <a:solidFill>
                  <a:srgbClr val="F8717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−0.18%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9725025" y="4224338"/>
            <a:ext cx="7338441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−0.1% спред − 0.08% комиссии за round-trip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9334500" y="5176838"/>
            <a:ext cx="7905750" cy="1933575"/>
          </a:xfrm>
          <a:prstGeom prst="roundRect">
            <a:avLst>
              <a:gd fmla="val 5911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9725025" y="5529263"/>
            <a:ext cx="733844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ИТОГ ДЛЯ БИРЖИ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9725025" y="5872163"/>
            <a:ext cx="73384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3300"/>
              <a:buFont typeface="JetBrains Mono"/>
              <a:buNone/>
            </a:pPr>
            <a:r>
              <a:rPr b="1" i="0" lang="en-US" sz="33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+$8,000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9725025" y="6386513"/>
            <a:ext cx="7338441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0.08% × 1 000 ботов × 100 циклов/день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9334500" y="7339012"/>
            <a:ext cx="7905750" cy="1790700"/>
          </a:xfrm>
          <a:prstGeom prst="roundRect">
            <a:avLst>
              <a:gd fmla="val 6383" name="adj"/>
            </a:avLst>
          </a:prstGeom>
          <a:solidFill>
            <a:srgbClr val="131A24"/>
          </a:solidFill>
          <a:ln cap="flat" cmpd="sng" w="9525">
            <a:solidFill>
              <a:srgbClr val="EAB30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9725025" y="7691438"/>
            <a:ext cx="7338441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ПРЕДСКАЗУЕМЫЕ СТОП-ЛОССЫ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9725025" y="8034338"/>
            <a:ext cx="7338441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90% ботов ставят SL по ATR × 1.5. Маркет-мейкеры видят кластеры и охотятся за ними.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1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1" name="Google Shape;9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"/>
          <p:cNvSpPr/>
          <p:nvPr/>
        </p:nvSpPr>
        <p:spPr>
          <a:xfrm>
            <a:off x="1047750" y="1638807"/>
            <a:ext cx="23622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МЕТОДОЛОГИЯ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1047750" y="2153157"/>
            <a:ext cx="12685200" cy="16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Четыре инженерных решения, которые</a:t>
            </a:r>
            <a:r>
              <a:rPr b="1" i="0" lang="en-US" sz="54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накапливают преимущество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1047750" y="4219961"/>
            <a:ext cx="8829600" cy="28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3300"/>
              <a:buFont typeface="Arial"/>
              <a:buNone/>
            </a:pPr>
            <a:r>
              <a:rPr b="0" i="0" lang="en-US" sz="33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Альфа стратегий затухает. Инфраструктура под ними — нет. Мы вкладываемся в то, что делает каждую итерацию достоверной, каждый сигнал — воспроизводимым, каждый запуск — бесшовным.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00" name="Google Shape;10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5"/>
          <p:cNvSpPr/>
          <p:nvPr/>
        </p:nvSpPr>
        <p:spPr>
          <a:xfrm>
            <a:off x="1047750" y="1004887"/>
            <a:ext cx="2362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МЕТОДОЛОГИЯ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15990540" y="952500"/>
            <a:ext cx="124971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16152465" y="1019175"/>
            <a:ext cx="100206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Решение 1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1047750" y="1647825"/>
            <a:ext cx="16678275" cy="651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Look-ahead bias архитектурно невозможен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1047750" y="2604046"/>
            <a:ext cx="8103679" cy="193714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Каждый запрос данных проходит через временной контекст </a:t>
            </a:r>
            <a:r>
              <a:rPr b="0" i="0" lang="en-US" sz="24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AsyncLocalStorage </a:t>
            </a: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. Стратегия физически не может получить данные из будущего — runtime откажет в доступе.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1047750" y="4769793"/>
            <a:ext cx="7867650" cy="3143250"/>
          </a:xfrm>
          <a:prstGeom prst="roundRect">
            <a:avLst>
              <a:gd fmla="val 3636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"/>
          <p:cNvSpPr/>
          <p:nvPr/>
        </p:nvSpPr>
        <p:spPr>
          <a:xfrm>
            <a:off x="1362075" y="5046018"/>
            <a:ext cx="7475029" cy="26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Нет параметров timestamp.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Контекст передаётся автоматически.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c1h  =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50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getCandles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(s,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"1h"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,  100); </a:t>
            </a:r>
            <a:endParaRPr b="0" i="0" sz="150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c15m =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50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getCandles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(s,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"15m"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, 100); </a:t>
            </a:r>
            <a:endParaRPr b="0" i="0" sz="150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const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c5m  =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50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getCandles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(s,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"5m"</a:t>
            </a:r>
            <a:r>
              <a:rPr b="0" i="0" lang="en-US" sz="150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,  100); </a:t>
            </a:r>
            <a:endParaRPr b="0" i="0" sz="150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→ все три синхронизированы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  к одному тику бэктеста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9372600" y="3432721"/>
            <a:ext cx="7867650" cy="1762125"/>
          </a:xfrm>
          <a:prstGeom prst="roundRect">
            <a:avLst>
              <a:gd fmla="val 6486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5"/>
          <p:cNvSpPr/>
          <p:nvPr/>
        </p:nvSpPr>
        <p:spPr>
          <a:xfrm>
            <a:off x="9686925" y="3747046"/>
            <a:ext cx="2072729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5"/>
          <p:cNvSpPr/>
          <p:nvPr/>
        </p:nvSpPr>
        <p:spPr>
          <a:xfrm>
            <a:off x="9848850" y="3813721"/>
            <a:ext cx="182507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AsyncLocalStorage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11873954" y="3747046"/>
            <a:ext cx="1969889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5"/>
          <p:cNvSpPr/>
          <p:nvPr/>
        </p:nvSpPr>
        <p:spPr>
          <a:xfrm>
            <a:off x="12035879" y="3813721"/>
            <a:ext cx="172223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Promise.all-safe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9686925" y="4251871"/>
            <a:ext cx="745617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Контекст сохраняется через все async-границы, включая параллельные запросы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9372600" y="5385346"/>
            <a:ext cx="7867650" cy="1447800"/>
          </a:xfrm>
          <a:prstGeom prst="roundRect">
            <a:avLst>
              <a:gd fmla="val 7895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5"/>
          <p:cNvSpPr/>
          <p:nvPr/>
        </p:nvSpPr>
        <p:spPr>
          <a:xfrm>
            <a:off x="9686925" y="5699671"/>
            <a:ext cx="114687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5"/>
          <p:cNvSpPr/>
          <p:nvPr/>
        </p:nvSpPr>
        <p:spPr>
          <a:xfrm>
            <a:off x="9848850" y="5766346"/>
            <a:ext cx="8992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Backtest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10948095" y="5699671"/>
            <a:ext cx="83820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5"/>
          <p:cNvSpPr/>
          <p:nvPr/>
        </p:nvSpPr>
        <p:spPr>
          <a:xfrm>
            <a:off x="11110020" y="5766346"/>
            <a:ext cx="59055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Paper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11900595" y="5699671"/>
            <a:ext cx="73536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5"/>
          <p:cNvSpPr/>
          <p:nvPr/>
        </p:nvSpPr>
        <p:spPr>
          <a:xfrm>
            <a:off x="12062520" y="5766346"/>
            <a:ext cx="48771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9686925" y="6204496"/>
            <a:ext cx="7456170" cy="352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Один и тот же код стратегии. Разница — только источник </a:t>
            </a:r>
            <a:r>
              <a:rPr b="0" i="0" lang="en-US" sz="165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currentTime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9372600" y="7023646"/>
            <a:ext cx="7867650" cy="1672530"/>
          </a:xfrm>
          <a:prstGeom prst="roundRect">
            <a:avLst>
              <a:gd fmla="val 6834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5"/>
          <p:cNvSpPr/>
          <p:nvPr/>
        </p:nvSpPr>
        <p:spPr>
          <a:xfrm>
            <a:off x="9686925" y="7337971"/>
            <a:ext cx="7456170" cy="3009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Мульти-таймфрейм без ошибок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9686925" y="7753201"/>
            <a:ext cx="745617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Синхронизация 1h / 15m / 5m данных происходит автоматически через контекст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30" name="Google Shape;13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6"/>
          <p:cNvSpPr/>
          <p:nvPr/>
        </p:nvSpPr>
        <p:spPr>
          <a:xfrm>
            <a:off x="1047750" y="1004887"/>
            <a:ext cx="2362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МЕТОДОЛОГИЯ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15990540" y="952500"/>
            <a:ext cx="124971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16152465" y="1019175"/>
            <a:ext cx="100206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Решение 2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1047750" y="1571625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LLM ищет новости перед принятием решения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1047750" y="3960841"/>
            <a:ext cx="8103600" cy="1691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Восемь специализированных агентов опрашивают Tavily и открытые источники на предмет триггеров — действия SEC, взломы бирж, заявления президентов — за последние 4–12 часов.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1047750" y="5903556"/>
            <a:ext cx="8103600" cy="1278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Reasoning + Acting (ReAct) </a:t>
            </a:r>
            <a:r>
              <a:rPr b="0" i="0" lang="en-US" sz="21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— агент чередует мышление и действие. Между шагами рассуждения он ищет в новостной ленте.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1047750" y="7446318"/>
            <a:ext cx="135255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1209675" y="7512993"/>
            <a:ext cx="11049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ReAct loop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/>
          <p:nvPr/>
        </p:nvSpPr>
        <p:spPr>
          <a:xfrm>
            <a:off x="2552700" y="7446318"/>
            <a:ext cx="135255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6"/>
          <p:cNvSpPr/>
          <p:nvPr/>
        </p:nvSpPr>
        <p:spPr>
          <a:xfrm>
            <a:off x="2714625" y="7512993"/>
            <a:ext cx="11049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Tavily API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4057650" y="7446318"/>
            <a:ext cx="166122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6"/>
          <p:cNvSpPr/>
          <p:nvPr/>
        </p:nvSpPr>
        <p:spPr>
          <a:xfrm>
            <a:off x="4219575" y="7512993"/>
            <a:ext cx="141357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Zod-валидация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9372600" y="3909549"/>
            <a:ext cx="7867800" cy="5208000"/>
          </a:xfrm>
          <a:prstGeom prst="roundRect">
            <a:avLst>
              <a:gd fmla="val 4580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"/>
          <p:cNvSpPr/>
          <p:nvPr/>
        </p:nvSpPr>
        <p:spPr>
          <a:xfrm>
            <a:off x="9648825" y="4212075"/>
            <a:ext cx="6886800" cy="35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Level 1 — Острые события </a:t>
            </a:r>
            <a:endParaRPr b="0" i="0" sz="135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"BTC news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 </a:t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"SEC DOJ action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 </a:t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"exchange hack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 </a:t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t/>
            </a:r>
            <a:endParaRPr sz="1350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Level 2 — Макро </a:t>
            </a:r>
            <a:endParaRPr b="0" i="0" sz="135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"Fed surprise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 </a:t>
            </a:r>
            <a:endParaRPr b="0" i="0" sz="1350" u="none" cap="none" strike="noStrike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t/>
            </a:r>
            <a:endParaRPr sz="1350">
              <a:solidFill>
                <a:srgbClr val="8B9DB5"/>
              </a:solidFill>
              <a:highlight>
                <a:srgbClr val="131A24"/>
              </a:highlight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Level 3 — Объём </a:t>
            </a:r>
            <a:endParaRPr b="0" i="0" sz="135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await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b="0" i="0" lang="en-US" sz="1350" u="none" cap="none" strike="noStrike">
                <a:solidFill>
                  <a:srgbClr val="7DD3F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search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"BTC volume spike ${date}"</a:t>
            </a:r>
            <a:r>
              <a:rPr b="0" i="0" lang="en-US" sz="13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);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50" name="Google Shape;15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7"/>
          <p:cNvSpPr/>
          <p:nvPr/>
        </p:nvSpPr>
        <p:spPr>
          <a:xfrm>
            <a:off x="1047750" y="1004887"/>
            <a:ext cx="2362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МЕТОДОЛОГИЯ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5990540" y="952500"/>
            <a:ext cx="124971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6152465" y="1019175"/>
            <a:ext cx="100206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Решение 3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1047750" y="1647825"/>
            <a:ext cx="16678275" cy="651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Pine Script работает там, где нет TradingView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1047750" y="2604046"/>
            <a:ext cx="8103679" cy="19276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PineTS исполняет .pine файлы локально на любых данных. Стратегии, созданные для BTC на Binance, разворачиваются без изменений на биржах развивающихся рынков.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1047750" y="4760268"/>
            <a:ext cx="7867650" cy="2819400"/>
          </a:xfrm>
          <a:prstGeom prst="roundRect">
            <a:avLst>
              <a:gd fmla="val 4054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1362075" y="5036493"/>
            <a:ext cx="7475029" cy="2305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npm start -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--pine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./math/feb_2026.pine </a:t>
            </a:r>
            <a:endParaRPr b="0" i="0" sz="1500" u="none" cap="none" strike="noStrike">
              <a:solidFill>
                <a:srgbClr val="EAB30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--timeframe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15m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--limit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500</a:t>
            </a:r>
            <a:endParaRPr sz="1500">
              <a:solidFill>
                <a:srgbClr val="EAB30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--when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"2026-02-28T00:00:00Z"</a:t>
            </a:r>
            <a:endParaRPr sz="1500">
              <a:solidFill>
                <a:srgbClr val="EAB308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--jsonl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// → дамп для LLM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9372600" y="3368873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9610725" y="3606998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UZSE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9610725" y="3949898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Узбекистан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9610725" y="4416623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9715500" y="4454723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13373100" y="3368873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13611225" y="3606998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13611225" y="3949898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Монголия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13611225" y="4416623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13716000" y="4454723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9372600" y="5035748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7"/>
          <p:cNvSpPr/>
          <p:nvPr/>
        </p:nvSpPr>
        <p:spPr>
          <a:xfrm>
            <a:off x="9610725" y="5273873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9610725" y="5616773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Дакка, Бангладеш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/>
          <p:nvPr/>
        </p:nvSpPr>
        <p:spPr>
          <a:xfrm>
            <a:off x="9610725" y="6083498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9715500" y="6121598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13373100" y="5035748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7"/>
          <p:cNvSpPr/>
          <p:nvPr/>
        </p:nvSpPr>
        <p:spPr>
          <a:xfrm>
            <a:off x="13611225" y="5273873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13611225" y="5616773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Гана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13611225" y="6083498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13716000" y="6121598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9372600" y="6702623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9610725" y="6940748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SGBV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9610725" y="7283648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Алжир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9610725" y="7750373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9715500" y="7788473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beta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13373100" y="6702623"/>
            <a:ext cx="3867150" cy="1533525"/>
          </a:xfrm>
          <a:prstGeom prst="roundRect">
            <a:avLst>
              <a:gd fmla="val 745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7"/>
          <p:cNvSpPr/>
          <p:nvPr/>
        </p:nvSpPr>
        <p:spPr>
          <a:xfrm>
            <a:off x="13611225" y="6940748"/>
            <a:ext cx="349262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7"/>
          <p:cNvSpPr/>
          <p:nvPr/>
        </p:nvSpPr>
        <p:spPr>
          <a:xfrm>
            <a:off x="13611225" y="7283648"/>
            <a:ext cx="349262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Ботсвана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13611225" y="7750373"/>
            <a:ext cx="529679" cy="247650"/>
          </a:xfrm>
          <a:prstGeom prst="roundRect">
            <a:avLst>
              <a:gd fmla="val 23077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7"/>
          <p:cNvSpPr/>
          <p:nvPr/>
        </p:nvSpPr>
        <p:spPr>
          <a:xfrm>
            <a:off x="13716000" y="7788473"/>
            <a:ext cx="396329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050"/>
              <a:buFont typeface="JetBrains Mono"/>
              <a:buNone/>
            </a:pPr>
            <a:r>
              <a:rPr b="0" i="0" lang="en-US" sz="10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beta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9254585" y="8388548"/>
            <a:ext cx="8103679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60+ индикаторов · Pine Script v5/v6 · JSONL-native вывод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1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95" name="Google Shape;19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8"/>
          <p:cNvSpPr/>
          <p:nvPr/>
        </p:nvSpPr>
        <p:spPr>
          <a:xfrm>
            <a:off x="1047750" y="1004887"/>
            <a:ext cx="15049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/ КЕЙСЫ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14653171" y="952500"/>
            <a:ext cx="2587079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8"/>
          <p:cNvSpPr/>
          <p:nvPr/>
        </p:nvSpPr>
        <p:spPr>
          <a:xfrm>
            <a:off x="14815096" y="1019175"/>
            <a:ext cx="2340842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Февраль 2026 · BTCUSDT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1047750" y="1609725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AI-воркфлоу для ликвидационных каскадов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1047750" y="2484090"/>
            <a:ext cx="8103679" cy="169128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Claude Code анализирует новости, корреляцию с ценой и формулирует гипотезу — без итеративного перебора. Стратегия объясняет механику рынка, а не ищет случайные корреляции.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1047750" y="4403973"/>
            <a:ext cx="133350" cy="13335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1409700" y="4327773"/>
            <a:ext cx="420360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5 фев — Flash crash ($60K)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409700" y="4699248"/>
            <a:ext cx="420360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V-bounce +15%, $700M ликвидаций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1047750" y="5261223"/>
            <a:ext cx="133350" cy="13335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8"/>
          <p:cNvSpPr/>
          <p:nvPr/>
        </p:nvSpPr>
        <p:spPr>
          <a:xfrm>
            <a:off x="1409700" y="5185023"/>
            <a:ext cx="363135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10 фев — Вторичный каскад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1409700" y="5556498"/>
            <a:ext cx="363135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$71K → $67K, ETF-оттоки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1047750" y="6118473"/>
            <a:ext cx="133350" cy="133350"/>
          </a:xfrm>
          <a:prstGeom prst="ellipse">
            <a:avLst/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1409700" y="6042273"/>
            <a:ext cx="319278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23 фев — Тарифный шок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1409700" y="6413748"/>
            <a:ext cx="319278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$67.7K → $62.5K, bounce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1047750" y="6975723"/>
            <a:ext cx="8103679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Стратегия: LONG после ликвидационного спайка (ATR × 2 + Volume × 1.8). Фиксированные выходы: TP +1.5%, SL −0.8%.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9372600" y="3889921"/>
            <a:ext cx="3857625" cy="1400175"/>
          </a:xfrm>
          <a:prstGeom prst="roundRect">
            <a:avLst>
              <a:gd fmla="val 816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9648825" y="4166146"/>
            <a:ext cx="340433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+4.28%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9648825" y="4718596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Total PNL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13382625" y="3889921"/>
            <a:ext cx="3857625" cy="1400175"/>
          </a:xfrm>
          <a:prstGeom prst="roundRect">
            <a:avLst>
              <a:gd fmla="val 816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13658850" y="4166146"/>
            <a:ext cx="340433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83.3%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13658850" y="4718596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Win Rate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9372600" y="5442496"/>
            <a:ext cx="3857625" cy="1400175"/>
          </a:xfrm>
          <a:prstGeom prst="roundRect">
            <a:avLst>
              <a:gd fmla="val 816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9648825" y="5718721"/>
            <a:ext cx="340433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4.58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9648825" y="6271171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Profit Factor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13382625" y="5442496"/>
            <a:ext cx="3857625" cy="1400175"/>
          </a:xfrm>
          <a:prstGeom prst="roundRect">
            <a:avLst>
              <a:gd fmla="val 8163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8"/>
          <p:cNvSpPr/>
          <p:nvPr/>
        </p:nvSpPr>
        <p:spPr>
          <a:xfrm>
            <a:off x="13658850" y="5718721"/>
            <a:ext cx="340433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600"/>
              <a:buFont typeface="JetBrains Mono"/>
              <a:buNone/>
            </a:pPr>
            <a:r>
              <a:rPr b="1" i="0" lang="en-US" sz="36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0.00%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8"/>
          <p:cNvSpPr/>
          <p:nvPr/>
        </p:nvSpPr>
        <p:spPr>
          <a:xfrm>
            <a:off x="13658850" y="6271171"/>
            <a:ext cx="340433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Max Drawdown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8"/>
          <p:cNvSpPr/>
          <p:nvPr/>
        </p:nvSpPr>
        <p:spPr>
          <a:xfrm>
            <a:off x="9372600" y="6995075"/>
            <a:ext cx="7867800" cy="1262400"/>
          </a:xfrm>
          <a:prstGeom prst="roundRect">
            <a:avLst>
              <a:gd fmla="val 1016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8"/>
          <p:cNvSpPr/>
          <p:nvPr/>
        </p:nvSpPr>
        <p:spPr>
          <a:xfrm>
            <a:off x="9648825" y="7195096"/>
            <a:ext cx="7534656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SHARPE RATIO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9648825" y="7537996"/>
            <a:ext cx="7534656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3000"/>
              <a:buFont typeface="JetBrains Mono"/>
              <a:buNone/>
            </a:pPr>
            <a:r>
              <a:rPr b="1" i="0" lang="en-US" sz="30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0.84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31" name="Google Shape;23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9"/>
          <p:cNvSpPr/>
          <p:nvPr/>
        </p:nvSpPr>
        <p:spPr>
          <a:xfrm>
            <a:off x="1047750" y="1004887"/>
            <a:ext cx="15049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/ КЕЙСЫ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4756011" y="952500"/>
            <a:ext cx="2484239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9"/>
          <p:cNvSpPr/>
          <p:nvPr/>
        </p:nvSpPr>
        <p:spPr>
          <a:xfrm>
            <a:off x="14917936" y="1019175"/>
            <a:ext cx="223658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Январь 2026 · TRXUSDT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1047750" y="1609725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Инверсия алгоритма сбора ликвидности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1047750" y="2484090"/>
            <a:ext cx="9724293" cy="127798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Telegram-канал рекомендует SHORT с x25 плечом — точно на дне 4H свечи. OSINT-анализ выявляет алгоритмический паттерн, инвертирование которого даёт стабильный профит.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1047750" y="4538365"/>
            <a:ext cx="85725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9"/>
          <p:cNvSpPr/>
          <p:nvPr/>
        </p:nvSpPr>
        <p:spPr>
          <a:xfrm>
            <a:off x="1276350" y="4143077"/>
            <a:ext cx="476250" cy="28098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ШАГ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1905000" y="4538365"/>
            <a:ext cx="8583811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2133600" y="4143077"/>
            <a:ext cx="8384125" cy="28098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ДЕЙСТВИЕ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9"/>
          <p:cNvSpPr/>
          <p:nvPr/>
        </p:nvSpPr>
        <p:spPr>
          <a:xfrm>
            <a:off x="1047750" y="5224165"/>
            <a:ext cx="85725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1276350" y="4719340"/>
            <a:ext cx="476250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JetBrains Mono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1905000" y="5224165"/>
            <a:ext cx="8583811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2133600" y="4719340"/>
            <a:ext cx="8384125" cy="371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Экспорт всех публичных сигналов с меткой времени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9"/>
          <p:cNvSpPr/>
          <p:nvPr/>
        </p:nvSpPr>
        <p:spPr>
          <a:xfrm>
            <a:off x="1047750" y="6167140"/>
            <a:ext cx="85725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1276350" y="5405140"/>
            <a:ext cx="476250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JetBrains Mono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1905000" y="6167140"/>
            <a:ext cx="8583811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2133600" y="5405140"/>
            <a:ext cx="8384125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Идентификация алгоритма: TP-множители всегда ×1.52→×1.74→×1.47→×1.50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9"/>
          <p:cNvSpPr/>
          <p:nvPr/>
        </p:nvSpPr>
        <p:spPr>
          <a:xfrm>
            <a:off x="1047750" y="7110115"/>
            <a:ext cx="85725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1276350" y="6348115"/>
            <a:ext cx="476250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JetBrains Mono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1905000" y="7110115"/>
            <a:ext cx="8583811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2133600" y="6348115"/>
            <a:ext cx="8384125" cy="6286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Аномалия объёма за 15 мин до каждого поста — канал открывает позиции до публикации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9"/>
          <p:cNvSpPr/>
          <p:nvPr/>
        </p:nvSpPr>
        <p:spPr>
          <a:xfrm>
            <a:off x="1276350" y="7291090"/>
            <a:ext cx="476250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JetBrains Mono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9"/>
          <p:cNvSpPr/>
          <p:nvPr/>
        </p:nvSpPr>
        <p:spPr>
          <a:xfrm>
            <a:off x="2133600" y="7291090"/>
            <a:ext cx="8384125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Инвертируем позицию, фильтруем по середине 4H-диапазона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9"/>
          <p:cNvSpPr/>
          <p:nvPr/>
        </p:nvSpPr>
        <p:spPr>
          <a:xfrm>
            <a:off x="10946011" y="3389858"/>
            <a:ext cx="6294239" cy="1628775"/>
          </a:xfrm>
          <a:prstGeom prst="roundRect">
            <a:avLst>
              <a:gd fmla="val 7018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9"/>
          <p:cNvSpPr/>
          <p:nvPr/>
        </p:nvSpPr>
        <p:spPr>
          <a:xfrm>
            <a:off x="11336536" y="3742283"/>
            <a:ext cx="567858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+8.54%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9"/>
          <p:cNvSpPr/>
          <p:nvPr/>
        </p:nvSpPr>
        <p:spPr>
          <a:xfrm>
            <a:off x="11336536" y="4370933"/>
            <a:ext cx="567858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Portfolio PnL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9"/>
          <p:cNvSpPr/>
          <p:nvPr/>
        </p:nvSpPr>
        <p:spPr>
          <a:xfrm>
            <a:off x="10946011" y="5171033"/>
            <a:ext cx="6294239" cy="1628775"/>
          </a:xfrm>
          <a:prstGeom prst="roundRect">
            <a:avLst>
              <a:gd fmla="val 7018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9"/>
          <p:cNvSpPr/>
          <p:nvPr/>
        </p:nvSpPr>
        <p:spPr>
          <a:xfrm>
            <a:off x="11336536" y="5523458"/>
            <a:ext cx="567858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4200"/>
              <a:buFont typeface="JetBrains Mono"/>
              <a:buNone/>
            </a:pPr>
            <a:r>
              <a:rPr b="1" i="0" lang="en-US" sz="42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1.08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11336536" y="6152108"/>
            <a:ext cx="567858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Sharpe Ratio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10946011" y="6952208"/>
            <a:ext cx="3089970" cy="1666875"/>
          </a:xfrm>
          <a:prstGeom prst="roundRect">
            <a:avLst>
              <a:gd fmla="val 6857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9"/>
          <p:cNvSpPr/>
          <p:nvPr/>
        </p:nvSpPr>
        <p:spPr>
          <a:xfrm>
            <a:off x="11184136" y="7190333"/>
            <a:ext cx="2692131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8/8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11184136" y="7638008"/>
            <a:ext cx="2692131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инвертированных сигналов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14150280" y="6952208"/>
            <a:ext cx="3089970" cy="1666875"/>
          </a:xfrm>
          <a:prstGeom prst="roundRect">
            <a:avLst>
              <a:gd fmla="val 6857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9"/>
          <p:cNvSpPr/>
          <p:nvPr/>
        </p:nvSpPr>
        <p:spPr>
          <a:xfrm>
            <a:off x="14388405" y="7190333"/>
            <a:ext cx="2692131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&lt; 45 мин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14388405" y="7638008"/>
            <a:ext cx="2692131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время удержания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72" name="Google Shape;27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0"/>
          <p:cNvSpPr/>
          <p:nvPr/>
        </p:nvSpPr>
        <p:spPr>
          <a:xfrm>
            <a:off x="1047750" y="1004887"/>
            <a:ext cx="15049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/ КЕЙСЫ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0"/>
          <p:cNvSpPr/>
          <p:nvPr/>
        </p:nvSpPr>
        <p:spPr>
          <a:xfrm>
            <a:off x="14756011" y="952500"/>
            <a:ext cx="2484239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0"/>
          <p:cNvSpPr/>
          <p:nvPr/>
        </p:nvSpPr>
        <p:spPr>
          <a:xfrm>
            <a:off x="14917936" y="1019175"/>
            <a:ext cx="223658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Апрель 2026 · BTCUSDT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0"/>
          <p:cNvSpPr/>
          <p:nvPr/>
        </p:nvSpPr>
        <p:spPr>
          <a:xfrm>
            <a:off x="1047750" y="1609725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Три решения агента во время иранского кризиса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0"/>
          <p:cNvSpPr/>
          <p:nvPr/>
        </p:nvSpPr>
        <p:spPr>
          <a:xfrm>
            <a:off x="1047750" y="2484090"/>
            <a:ext cx="9810750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Реальные выводы ReAct-пайплайна — поиск новостей, оценка противоречий, один сигнал с письменным обоснованием.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/>
          <p:nvPr/>
        </p:nvSpPr>
        <p:spPr>
          <a:xfrm>
            <a:off x="1047750" y="3560415"/>
            <a:ext cx="5245001" cy="5964585"/>
          </a:xfrm>
          <a:prstGeom prst="roundRect">
            <a:avLst>
              <a:gd fmla="val 217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0"/>
          <p:cNvSpPr/>
          <p:nvPr/>
        </p:nvSpPr>
        <p:spPr>
          <a:xfrm>
            <a:off x="1438275" y="3912840"/>
            <a:ext cx="185931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 АПРЕЛЯ 2026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1438275" y="4274790"/>
            <a:ext cx="4597869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Ультиматум США Ирану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1438275" y="6216551"/>
            <a:ext cx="4597869" cy="9382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75"/>
              <a:buFont typeface="Arial"/>
              <a:buNone/>
            </a:pPr>
            <a:r>
              <a:rPr b="0" i="0" lang="en-US" sz="1575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Геополитика создаёт неопределённость. RSI=44, объём низкий, Fear&amp;Greed=12. Сигналы противоречивы.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1438275" y="8686800"/>
            <a:ext cx="979289" cy="485775"/>
          </a:xfrm>
          <a:prstGeom prst="roundRect">
            <a:avLst>
              <a:gd fmla="val 11765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0"/>
          <p:cNvSpPr/>
          <p:nvPr/>
        </p:nvSpPr>
        <p:spPr>
          <a:xfrm>
            <a:off x="1676400" y="8791575"/>
            <a:ext cx="579239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650"/>
              <a:buFont typeface="JetBrains Mono"/>
              <a:buNone/>
            </a:pPr>
            <a:r>
              <a:rPr b="1" i="0" lang="en-US" sz="16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WAIT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4564856" y="8743950"/>
            <a:ext cx="141357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conf: 67%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6521351" y="3560415"/>
            <a:ext cx="5245150" cy="5964585"/>
          </a:xfrm>
          <a:prstGeom prst="roundRect">
            <a:avLst>
              <a:gd fmla="val 2179" name="adj"/>
            </a:avLst>
          </a:prstGeom>
          <a:solidFill>
            <a:srgbClr val="131A24"/>
          </a:solidFill>
          <a:ln cap="flat" cmpd="sng" w="9525">
            <a:solidFill>
              <a:srgbClr val="2DD4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0"/>
          <p:cNvSpPr/>
          <p:nvPr/>
        </p:nvSpPr>
        <p:spPr>
          <a:xfrm>
            <a:off x="6911876" y="3912840"/>
            <a:ext cx="185931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 АПРЕЛЯ 2026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0"/>
          <p:cNvSpPr/>
          <p:nvPr/>
        </p:nvSpPr>
        <p:spPr>
          <a:xfrm>
            <a:off x="6911876" y="4274790"/>
            <a:ext cx="459802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Перемирие с Ираном на 2 недели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6911876" y="6366570"/>
            <a:ext cx="4598023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75"/>
              <a:buFont typeface="Arial"/>
              <a:buNone/>
            </a:pPr>
            <a:r>
              <a:rPr b="0" i="0" lang="en-US" sz="1575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Ралли до $72K, ликвидация $425M шортов, объём &gt;2M BTC/час. Острый бычий импульс.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0"/>
          <p:cNvSpPr/>
          <p:nvPr/>
        </p:nvSpPr>
        <p:spPr>
          <a:xfrm>
            <a:off x="6911876" y="8686800"/>
            <a:ext cx="853529" cy="485775"/>
          </a:xfrm>
          <a:prstGeom prst="roundRect">
            <a:avLst>
              <a:gd fmla="val 11765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0"/>
          <p:cNvSpPr/>
          <p:nvPr/>
        </p:nvSpPr>
        <p:spPr>
          <a:xfrm>
            <a:off x="7150001" y="8791575"/>
            <a:ext cx="453479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650"/>
              <a:buFont typeface="JetBrains Mono"/>
              <a:buNone/>
            </a:pPr>
            <a:r>
              <a:rPr b="1" i="0" lang="en-US" sz="16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BUY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0"/>
          <p:cNvSpPr/>
          <p:nvPr/>
        </p:nvSpPr>
        <p:spPr>
          <a:xfrm>
            <a:off x="10038606" y="8743950"/>
            <a:ext cx="141357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conf: 91%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11995100" y="3560415"/>
            <a:ext cx="5245150" cy="5964585"/>
          </a:xfrm>
          <a:prstGeom prst="roundRect">
            <a:avLst>
              <a:gd fmla="val 217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0"/>
          <p:cNvSpPr/>
          <p:nvPr/>
        </p:nvSpPr>
        <p:spPr>
          <a:xfrm>
            <a:off x="12385625" y="3912840"/>
            <a:ext cx="185931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9 АПРЕЛЯ 2026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0"/>
          <p:cNvSpPr/>
          <p:nvPr/>
        </p:nvSpPr>
        <p:spPr>
          <a:xfrm>
            <a:off x="12385625" y="4274790"/>
            <a:ext cx="4598023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Квантовые угрозы + продажи майнеров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0"/>
          <p:cNvSpPr/>
          <p:nvPr/>
        </p:nvSpPr>
        <p:spPr>
          <a:xfrm>
            <a:off x="12385625" y="6402288"/>
            <a:ext cx="4598023" cy="9382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575"/>
              <a:buFont typeface="Arial"/>
              <a:buNone/>
            </a:pPr>
            <a:r>
              <a:rPr b="0" i="0" lang="en-US" sz="1575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Пробой $71K, но сильные медвежьи факторы: хешрейт падает, опционы-пут доминируют (премия ~17%).</a:t>
            </a:r>
            <a:endParaRPr b="0" i="0" sz="15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0"/>
          <p:cNvSpPr/>
          <p:nvPr/>
        </p:nvSpPr>
        <p:spPr>
          <a:xfrm>
            <a:off x="12385625" y="8686800"/>
            <a:ext cx="979289" cy="485775"/>
          </a:xfrm>
          <a:prstGeom prst="roundRect">
            <a:avLst>
              <a:gd fmla="val 11765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0"/>
          <p:cNvSpPr/>
          <p:nvPr/>
        </p:nvSpPr>
        <p:spPr>
          <a:xfrm>
            <a:off x="12623750" y="8791575"/>
            <a:ext cx="579239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650"/>
              <a:buFont typeface="JetBrains Mono"/>
              <a:buNone/>
            </a:pPr>
            <a:r>
              <a:rPr b="1" i="0" lang="en-US" sz="16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WAIT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0"/>
          <p:cNvSpPr/>
          <p:nvPr/>
        </p:nvSpPr>
        <p:spPr>
          <a:xfrm>
            <a:off x="15512355" y="8743950"/>
            <a:ext cx="141357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conf: 73%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04" name="Google Shape;30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11"/>
          <p:cNvSpPr/>
          <p:nvPr/>
        </p:nvSpPr>
        <p:spPr>
          <a:xfrm>
            <a:off x="1047750" y="952500"/>
            <a:ext cx="13620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 / СТЕК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1"/>
          <p:cNvSpPr/>
          <p:nvPr/>
        </p:nvSpPr>
        <p:spPr>
          <a:xfrm>
            <a:off x="1047750" y="1543050"/>
            <a:ext cx="16678275" cy="651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Открытый стек: от сигнала до исполнения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1"/>
          <p:cNvSpPr/>
          <p:nvPr/>
        </p:nvSpPr>
        <p:spPr>
          <a:xfrm>
            <a:off x="1047750" y="3259325"/>
            <a:ext cx="7998600" cy="5505600"/>
          </a:xfrm>
          <a:prstGeom prst="roundRect">
            <a:avLst>
              <a:gd fmla="val 2076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1"/>
          <p:cNvSpPr/>
          <p:nvPr/>
        </p:nvSpPr>
        <p:spPr>
          <a:xfrm>
            <a:off x="1362075" y="3535550"/>
            <a:ext cx="7867500" cy="49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github.com/tripolskypetr/backtest-kit v6.0.0 · MIT 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backtest-kit/ </a:t>
            </a:r>
            <a:endParaRPr b="0" i="0" sz="1500" u="none" cap="none" strike="noStrike">
              <a:solidFill>
                <a:srgbClr val="8B9DB5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@backtest-kit/cli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scaffold·dump·backtest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@backtest-kit/pinets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Pine Script runtime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@backtest-kit/graph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reactive source/output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@backtest-kit/ui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trade lifecycle UI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@backtest-kit/ollama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10+ LLM провайдеров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agent-swarm-kit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ReAct + tool-calling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├─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functools-kit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Cache·str·AsyncLocal </a:t>
            </a:r>
            <a:endParaRPr b="0" i="0" sz="1500" u="none" cap="none" strike="noStrike">
              <a:solidFill>
                <a:srgbClr val="5A6F87"/>
              </a:solidFill>
              <a:latin typeface="JetBrains Mono"/>
              <a:ea typeface="JetBrains Mono"/>
              <a:cs typeface="JetBrains Mono"/>
              <a:sym typeface="JetBrains Mono"/>
            </a:endParaRPr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└─ </a:t>
            </a:r>
            <a:r>
              <a:rPr b="0" i="0" lang="en-US" sz="150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garch</a:t>
            </a:r>
            <a:r>
              <a:rPr b="0" i="0" lang="en-US" sz="1500" u="none" cap="none" strike="noStrike">
                <a:solidFill>
                  <a:srgbClr val="8B9DB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         </a:t>
            </a: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волатильность GARCH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1"/>
          <p:cNvSpPr/>
          <p:nvPr/>
        </p:nvSpPr>
        <p:spPr>
          <a:xfrm>
            <a:off x="9372600" y="3089970"/>
            <a:ext cx="7867650" cy="2030611"/>
          </a:xfrm>
          <a:prstGeom prst="roundRect">
            <a:avLst>
              <a:gd fmla="val 562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1"/>
          <p:cNvSpPr/>
          <p:nvPr/>
        </p:nvSpPr>
        <p:spPr>
          <a:xfrm>
            <a:off x="9686925" y="3404295"/>
            <a:ext cx="7456170" cy="34468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Runtime с самопроверкой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9686925" y="3863280"/>
            <a:ext cx="7456170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Look-ahead bias, отсутствие SL, некорректный R:R — всё перехватывается Zod-валидаторами и AsyncLocalStorage до отправки сигнала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/>
          <p:nvPr/>
        </p:nvSpPr>
        <p:spPr>
          <a:xfrm>
            <a:off x="9372600" y="5311080"/>
            <a:ext cx="7867650" cy="1716286"/>
          </a:xfrm>
          <a:prstGeom prst="roundRect">
            <a:avLst>
              <a:gd fmla="val 6660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1"/>
          <p:cNvSpPr/>
          <p:nvPr/>
        </p:nvSpPr>
        <p:spPr>
          <a:xfrm>
            <a:off x="9686925" y="5625405"/>
            <a:ext cx="7456170" cy="34468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Параллельное исполнение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1"/>
          <p:cNvSpPr/>
          <p:nvPr/>
        </p:nvSpPr>
        <p:spPr>
          <a:xfrm>
            <a:off x="9686925" y="6084391"/>
            <a:ext cx="745617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Сотни стратегий работают через общий обработчик биржи, общий пул валидаторов риска, общую очередь. Monorepo-архитектура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1"/>
          <p:cNvSpPr/>
          <p:nvPr/>
        </p:nvSpPr>
        <p:spPr>
          <a:xfrm>
            <a:off x="9372600" y="7217866"/>
            <a:ext cx="7867650" cy="1716286"/>
          </a:xfrm>
          <a:prstGeom prst="roundRect">
            <a:avLst>
              <a:gd fmla="val 6660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1"/>
          <p:cNvSpPr/>
          <p:nvPr/>
        </p:nvSpPr>
        <p:spPr>
          <a:xfrm>
            <a:off x="9686925" y="7532191"/>
            <a:ext cx="7456170" cy="34468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JSONL-нативные логи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1"/>
          <p:cNvSpPr/>
          <p:nvPr/>
        </p:nvSpPr>
        <p:spPr>
          <a:xfrm>
            <a:off x="9686925" y="7991177"/>
            <a:ext cx="745617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Каждый тик, каждая цепочка рассуждений, каждое отклонение по риску — в формате JSON Lines. Claude Code читает их напрямую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23" name="Google Shape;32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2"/>
          <p:cNvSpPr/>
          <p:nvPr/>
        </p:nvSpPr>
        <p:spPr>
          <a:xfrm>
            <a:off x="1047750" y="952500"/>
            <a:ext cx="164782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 / УСЛУГИ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2"/>
          <p:cNvSpPr/>
          <p:nvPr/>
        </p:nvSpPr>
        <p:spPr>
          <a:xfrm>
            <a:off x="1047750" y="1543050"/>
            <a:ext cx="16678275" cy="6514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Пять направлений работы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1047750" y="4214217"/>
            <a:ext cx="1619250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2"/>
          <p:cNvSpPr/>
          <p:nvPr/>
        </p:nvSpPr>
        <p:spPr>
          <a:xfrm>
            <a:off x="1047750" y="2799755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2"/>
          <p:cNvSpPr/>
          <p:nvPr/>
        </p:nvSpPr>
        <p:spPr>
          <a:xfrm>
            <a:off x="1695450" y="2799755"/>
            <a:ext cx="14343317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Разработка AI-стратегий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2"/>
          <p:cNvSpPr/>
          <p:nvPr/>
        </p:nvSpPr>
        <p:spPr>
          <a:xfrm>
            <a:off x="1695450" y="3204567"/>
            <a:ext cx="14343317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Совместная разработка стратегии: анализ структуры рынка, формулировка гипотезы, Pine Script, валидация на календарных фреймах. Ежемесячная перекалибровка.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2"/>
          <p:cNvSpPr/>
          <p:nvPr/>
        </p:nvSpPr>
        <p:spPr>
          <a:xfrm>
            <a:off x="15887700" y="3197423"/>
            <a:ext cx="135255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2"/>
          <p:cNvSpPr/>
          <p:nvPr/>
        </p:nvSpPr>
        <p:spPr>
          <a:xfrm>
            <a:off x="16049625" y="3264098"/>
            <a:ext cx="11049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Engagement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2"/>
          <p:cNvSpPr/>
          <p:nvPr/>
        </p:nvSpPr>
        <p:spPr>
          <a:xfrm>
            <a:off x="1047750" y="5533430"/>
            <a:ext cx="1619250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2"/>
          <p:cNvSpPr/>
          <p:nvPr/>
        </p:nvSpPr>
        <p:spPr>
          <a:xfrm>
            <a:off x="1047750" y="4490442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2"/>
          <p:cNvSpPr/>
          <p:nvPr/>
        </p:nvSpPr>
        <p:spPr>
          <a:xfrm>
            <a:off x="1695450" y="4490442"/>
            <a:ext cx="14661093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Дискреционное управление активами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2"/>
          <p:cNvSpPr/>
          <p:nvPr/>
        </p:nvSpPr>
        <p:spPr>
          <a:xfrm>
            <a:off x="1695450" y="4895255"/>
            <a:ext cx="1466109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Запуск стратегий под ваш мандат. JSONL-аудит каждой сделки, дашборд в реальном времени. Мин. $250K AUM.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2"/>
          <p:cNvSpPr/>
          <p:nvPr/>
        </p:nvSpPr>
        <p:spPr>
          <a:xfrm>
            <a:off x="16196221" y="4702373"/>
            <a:ext cx="1044029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2"/>
          <p:cNvSpPr/>
          <p:nvPr/>
        </p:nvSpPr>
        <p:spPr>
          <a:xfrm>
            <a:off x="16358146" y="4769048"/>
            <a:ext cx="79637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Managed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2"/>
          <p:cNvSpPr/>
          <p:nvPr/>
        </p:nvSpPr>
        <p:spPr>
          <a:xfrm>
            <a:off x="1047750" y="6852642"/>
            <a:ext cx="1619250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2"/>
          <p:cNvSpPr/>
          <p:nvPr/>
        </p:nvSpPr>
        <p:spPr>
          <a:xfrm>
            <a:off x="1047750" y="5809655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2"/>
          <p:cNvSpPr/>
          <p:nvPr/>
        </p:nvSpPr>
        <p:spPr>
          <a:xfrm>
            <a:off x="1695450" y="5809655"/>
            <a:ext cx="14555167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Обучение квант-команд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2"/>
          <p:cNvSpPr/>
          <p:nvPr/>
        </p:nvSpPr>
        <p:spPr>
          <a:xfrm>
            <a:off x="1695450" y="6214467"/>
            <a:ext cx="1455516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Воркшопы: AsyncLocalStorage, ReAct-агенты, Pine Script → TypeScript, деплой swarm-kit. 2/5-дневные интенсивы.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2"/>
          <p:cNvSpPr/>
          <p:nvPr/>
        </p:nvSpPr>
        <p:spPr>
          <a:xfrm>
            <a:off x="16093380" y="6021586"/>
            <a:ext cx="114687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2"/>
          <p:cNvSpPr/>
          <p:nvPr/>
        </p:nvSpPr>
        <p:spPr>
          <a:xfrm>
            <a:off x="16255305" y="6088261"/>
            <a:ext cx="8992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Training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2"/>
          <p:cNvSpPr/>
          <p:nvPr/>
        </p:nvSpPr>
        <p:spPr>
          <a:xfrm>
            <a:off x="1047750" y="8171855"/>
            <a:ext cx="16192500" cy="9525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2"/>
          <p:cNvSpPr/>
          <p:nvPr/>
        </p:nvSpPr>
        <p:spPr>
          <a:xfrm>
            <a:off x="1047750" y="7128867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2"/>
          <p:cNvSpPr/>
          <p:nvPr/>
        </p:nvSpPr>
        <p:spPr>
          <a:xfrm>
            <a:off x="1695450" y="7128867"/>
            <a:ext cx="13919461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Интеграция развивающихся рынков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2"/>
          <p:cNvSpPr/>
          <p:nvPr/>
        </p:nvSpPr>
        <p:spPr>
          <a:xfrm>
            <a:off x="1695450" y="7533680"/>
            <a:ext cx="13919461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Скрейпинг, синтез свечей, data pipeline для 8 бирж без TradingView: UZSE, MSE, DSE, GSE и другие.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2"/>
          <p:cNvSpPr/>
          <p:nvPr/>
        </p:nvSpPr>
        <p:spPr>
          <a:xfrm>
            <a:off x="15476190" y="7340798"/>
            <a:ext cx="1764060" cy="352425"/>
          </a:xfrm>
          <a:prstGeom prst="roundRect">
            <a:avLst>
              <a:gd fmla="val 16216" name="adj"/>
            </a:avLst>
          </a:prstGeom>
          <a:solidFill>
            <a:srgbClr val="EAB308">
              <a:alpha val="12156"/>
            </a:srgbClr>
          </a:solidFill>
          <a:ln cap="flat" cmpd="sng" w="9525">
            <a:solidFill>
              <a:srgbClr val="EAB30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2"/>
          <p:cNvSpPr/>
          <p:nvPr/>
        </p:nvSpPr>
        <p:spPr>
          <a:xfrm>
            <a:off x="15638115" y="7407473"/>
            <a:ext cx="151641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B30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EAB30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Infrastructure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2"/>
          <p:cNvSpPr/>
          <p:nvPr/>
        </p:nvSpPr>
        <p:spPr>
          <a:xfrm>
            <a:off x="1047750" y="8448080"/>
            <a:ext cx="4572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1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2"/>
          <p:cNvSpPr/>
          <p:nvPr/>
        </p:nvSpPr>
        <p:spPr>
          <a:xfrm>
            <a:off x="1695450" y="8448080"/>
            <a:ext cx="14555167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Enterprise-лицензия backtest-kit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2"/>
          <p:cNvSpPr/>
          <p:nvPr/>
        </p:nvSpPr>
        <p:spPr>
          <a:xfrm>
            <a:off x="1695450" y="8852892"/>
            <a:ext cx="1455516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8B9DB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8B9DB5"/>
                </a:solidFill>
                <a:latin typeface="Arial"/>
                <a:ea typeface="Arial"/>
                <a:cs typeface="Arial"/>
                <a:sym typeface="Arial"/>
              </a:rPr>
              <a:t>Коммерческая лицензия, приоритетная поддержка, кастомные risk-валидаторы, SLA-деплой. Self-hosted или cloud.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2"/>
          <p:cNvSpPr/>
          <p:nvPr/>
        </p:nvSpPr>
        <p:spPr>
          <a:xfrm>
            <a:off x="16093380" y="8660011"/>
            <a:ext cx="1146870" cy="352425"/>
          </a:xfrm>
          <a:prstGeom prst="roundRect">
            <a:avLst>
              <a:gd fmla="val 16216" name="adj"/>
            </a:avLst>
          </a:prstGeom>
          <a:solidFill>
            <a:srgbClr val="2DD4A8">
              <a:alpha val="14901"/>
            </a:srgbClr>
          </a:solidFill>
          <a:ln cap="flat" cmpd="sng" w="9525">
            <a:solidFill>
              <a:srgbClr val="2DD4A8">
                <a:alpha val="2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2"/>
          <p:cNvSpPr/>
          <p:nvPr/>
        </p:nvSpPr>
        <p:spPr>
          <a:xfrm>
            <a:off x="16255305" y="8726686"/>
            <a:ext cx="8992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350"/>
              <a:buFont typeface="JetBrains Mono"/>
              <a:buNone/>
            </a:pPr>
            <a:r>
              <a:rPr b="0" i="0" lang="en-US" sz="13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17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60" name="Google Shape;36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1000" y="304800"/>
            <a:ext cx="419100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13"/>
          <p:cNvSpPr/>
          <p:nvPr/>
        </p:nvSpPr>
        <p:spPr>
          <a:xfrm>
            <a:off x="1047750" y="952500"/>
            <a:ext cx="25050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 / ИССЛЕДОВАНИЯ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3"/>
          <p:cNvSpPr/>
          <p:nvPr/>
        </p:nvSpPr>
        <p:spPr>
          <a:xfrm>
            <a:off x="1047750" y="1543050"/>
            <a:ext cx="16678275" cy="60766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10 исследовательских статей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/>
          <p:nvPr/>
        </p:nvSpPr>
        <p:spPr>
          <a:xfrm>
            <a:off x="1047750" y="24555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3"/>
          <p:cNvSpPr/>
          <p:nvPr/>
        </p:nvSpPr>
        <p:spPr>
          <a:xfrm>
            <a:off x="1285875" y="28031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1796504" y="2693640"/>
            <a:ext cx="383293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Look-Ahead Bias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3"/>
          <p:cNvSpPr/>
          <p:nvPr/>
        </p:nvSpPr>
        <p:spPr>
          <a:xfrm>
            <a:off x="1796504" y="3065115"/>
            <a:ext cx="383293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AsyncLocalStorage как темпоральный контекст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9220200" y="24555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3"/>
          <p:cNvSpPr/>
          <p:nvPr/>
        </p:nvSpPr>
        <p:spPr>
          <a:xfrm>
            <a:off x="9458325" y="28031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9968954" y="2693640"/>
            <a:ext cx="3403564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Хаос второго порядка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3"/>
          <p:cNvSpPr/>
          <p:nvPr/>
        </p:nvSpPr>
        <p:spPr>
          <a:xfrm>
            <a:off x="9968954" y="3065115"/>
            <a:ext cx="3403564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Почему 1000 RSI-ботов теряют 18%/день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1047750" y="365566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3"/>
          <p:cNvSpPr/>
          <p:nvPr/>
        </p:nvSpPr>
        <p:spPr>
          <a:xfrm>
            <a:off x="1285875" y="400332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3"/>
          <p:cNvSpPr/>
          <p:nvPr/>
        </p:nvSpPr>
        <p:spPr>
          <a:xfrm>
            <a:off x="1796504" y="3893790"/>
            <a:ext cx="396155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AI получил руки для трейдинга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1796504" y="4265265"/>
            <a:ext cx="39615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Claude Code + локальный Pine Script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3"/>
          <p:cNvSpPr/>
          <p:nvPr/>
        </p:nvSpPr>
        <p:spPr>
          <a:xfrm>
            <a:off x="9220200" y="365566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3"/>
          <p:cNvSpPr/>
          <p:nvPr/>
        </p:nvSpPr>
        <p:spPr>
          <a:xfrm>
            <a:off x="9458325" y="400332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3"/>
          <p:cNvSpPr/>
          <p:nvPr/>
        </p:nvSpPr>
        <p:spPr>
          <a:xfrm>
            <a:off x="9968954" y="3893790"/>
            <a:ext cx="4360418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Почему цена падает одной свечой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3"/>
          <p:cNvSpPr/>
          <p:nvPr/>
        </p:nvSpPr>
        <p:spPr>
          <a:xfrm>
            <a:off x="9968954" y="4265265"/>
            <a:ext cx="4360418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Gamma convexity и ликвидационные каскады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1047750" y="48558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13"/>
          <p:cNvSpPr/>
          <p:nvPr/>
        </p:nvSpPr>
        <p:spPr>
          <a:xfrm>
            <a:off x="1285875" y="52034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3"/>
          <p:cNvSpPr/>
          <p:nvPr/>
        </p:nvSpPr>
        <p:spPr>
          <a:xfrm>
            <a:off x="1796504" y="5093940"/>
            <a:ext cx="336922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AI-воркфлоу для каскадов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1796504" y="5465415"/>
            <a:ext cx="3369226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Claude /loop, calendar-month стратегии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3"/>
          <p:cNvSpPr/>
          <p:nvPr/>
        </p:nvSpPr>
        <p:spPr>
          <a:xfrm>
            <a:off x="9220200" y="48558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3"/>
          <p:cNvSpPr/>
          <p:nvPr/>
        </p:nvSpPr>
        <p:spPr>
          <a:xfrm>
            <a:off x="9458325" y="52034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9968954" y="5093940"/>
            <a:ext cx="3477144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News Sentiment AI Blueprint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3"/>
          <p:cNvSpPr/>
          <p:nvPr/>
        </p:nvSpPr>
        <p:spPr>
          <a:xfrm>
            <a:off x="9968954" y="5465415"/>
            <a:ext cx="3477144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ReAct-паттерн для торговых сигналов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3"/>
          <p:cNvSpPr/>
          <p:nvPr/>
        </p:nvSpPr>
        <p:spPr>
          <a:xfrm>
            <a:off x="1047750" y="605596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3"/>
          <p:cNvSpPr/>
          <p:nvPr/>
        </p:nvSpPr>
        <p:spPr>
          <a:xfrm>
            <a:off x="1285875" y="640362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3"/>
          <p:cNvSpPr/>
          <p:nvPr/>
        </p:nvSpPr>
        <p:spPr>
          <a:xfrm>
            <a:off x="1796504" y="6294090"/>
            <a:ext cx="4181219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Новостной сентимент как сигнал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3"/>
          <p:cNvSpPr/>
          <p:nvPr/>
        </p:nvSpPr>
        <p:spPr>
          <a:xfrm>
            <a:off x="1796504" y="6665565"/>
            <a:ext cx="4181219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Векторный поиск, 24-часовое окно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3"/>
          <p:cNvSpPr/>
          <p:nvPr/>
        </p:nvSpPr>
        <p:spPr>
          <a:xfrm>
            <a:off x="9220200" y="605596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3"/>
          <p:cNvSpPr/>
          <p:nvPr/>
        </p:nvSpPr>
        <p:spPr>
          <a:xfrm>
            <a:off x="9458325" y="640362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3"/>
          <p:cNvSpPr/>
          <p:nvPr/>
        </p:nvSpPr>
        <p:spPr>
          <a:xfrm>
            <a:off x="9968954" y="6294090"/>
            <a:ext cx="354336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Liquidity Harvesting Machine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3"/>
          <p:cNvSpPr/>
          <p:nvPr/>
        </p:nvSpPr>
        <p:spPr>
          <a:xfrm>
            <a:off x="9968954" y="6665565"/>
            <a:ext cx="354336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Инверсия Telegram-канала, Sharpe 1.08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3"/>
          <p:cNvSpPr/>
          <p:nvPr/>
        </p:nvSpPr>
        <p:spPr>
          <a:xfrm>
            <a:off x="1047750" y="72561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1285875" y="76037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3"/>
          <p:cNvSpPr/>
          <p:nvPr/>
        </p:nvSpPr>
        <p:spPr>
          <a:xfrm>
            <a:off x="1796504" y="7494240"/>
            <a:ext cx="4770477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Pine Script на биржах без TradingView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3"/>
          <p:cNvSpPr/>
          <p:nvPr/>
        </p:nvSpPr>
        <p:spPr>
          <a:xfrm>
            <a:off x="1796504" y="7865715"/>
            <a:ext cx="477047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UZSE, MSE, DSE — 8 региональных бирж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3"/>
          <p:cNvSpPr/>
          <p:nvPr/>
        </p:nvSpPr>
        <p:spPr>
          <a:xfrm>
            <a:off x="9220200" y="7256115"/>
            <a:ext cx="8020050" cy="1047750"/>
          </a:xfrm>
          <a:prstGeom prst="roundRect">
            <a:avLst>
              <a:gd fmla="val 10909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3"/>
          <p:cNvSpPr/>
          <p:nvPr/>
        </p:nvSpPr>
        <p:spPr>
          <a:xfrm>
            <a:off x="9458325" y="7603778"/>
            <a:ext cx="396329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100"/>
              <a:buFont typeface="JetBrains Mono"/>
              <a:buNone/>
            </a:pPr>
            <a:r>
              <a:rPr b="1" i="0" lang="en-US" sz="210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3"/>
          <p:cNvSpPr/>
          <p:nvPr/>
        </p:nvSpPr>
        <p:spPr>
          <a:xfrm>
            <a:off x="9968954" y="7494240"/>
            <a:ext cx="4432926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Почему брокер заморозил депозит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3"/>
          <p:cNvSpPr/>
          <p:nvPr/>
        </p:nvSpPr>
        <p:spPr>
          <a:xfrm>
            <a:off x="9968954" y="7865715"/>
            <a:ext cx="4432926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DCA, усреднение и скрытые просадки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1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14"/>
          <p:cNvSpPr/>
          <p:nvPr/>
        </p:nvSpPr>
        <p:spPr>
          <a:xfrm>
            <a:off x="7719715" y="2223343"/>
            <a:ext cx="47625" cy="17145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4"/>
          <p:cNvSpPr/>
          <p:nvPr/>
        </p:nvSpPr>
        <p:spPr>
          <a:xfrm>
            <a:off x="7795915" y="2128093"/>
            <a:ext cx="47625" cy="26670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4"/>
          <p:cNvSpPr/>
          <p:nvPr/>
        </p:nvSpPr>
        <p:spPr>
          <a:xfrm>
            <a:off x="7872115" y="2185243"/>
            <a:ext cx="47625" cy="20955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4"/>
          <p:cNvSpPr/>
          <p:nvPr/>
        </p:nvSpPr>
        <p:spPr>
          <a:xfrm>
            <a:off x="7948315" y="2089993"/>
            <a:ext cx="47625" cy="30480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4"/>
          <p:cNvSpPr/>
          <p:nvPr/>
        </p:nvSpPr>
        <p:spPr>
          <a:xfrm>
            <a:off x="8024515" y="2242393"/>
            <a:ext cx="47625" cy="152400"/>
          </a:xfrm>
          <a:prstGeom prst="roundRect">
            <a:avLst>
              <a:gd fmla="val 4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4"/>
          <p:cNvSpPr/>
          <p:nvPr/>
        </p:nvSpPr>
        <p:spPr>
          <a:xfrm>
            <a:off x="8186440" y="2042368"/>
            <a:ext cx="1352699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TheOne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4"/>
          <p:cNvSpPr/>
          <p:nvPr/>
        </p:nvSpPr>
        <p:spPr>
          <a:xfrm>
            <a:off x="9615339" y="2042368"/>
            <a:ext cx="991046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Trade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4"/>
          <p:cNvSpPr/>
          <p:nvPr/>
        </p:nvSpPr>
        <p:spPr>
          <a:xfrm>
            <a:off x="5237275" y="2823425"/>
            <a:ext cx="7733100" cy="15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Готовая стратегия</a:t>
            </a:r>
            <a:endParaRPr b="1" sz="5100">
              <a:solidFill>
                <a:srgbClr val="F0F4F8"/>
              </a:solidFill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2DD4A8"/>
                </a:solidFill>
                <a:latin typeface="Arial"/>
                <a:ea typeface="Arial"/>
                <a:cs typeface="Arial"/>
                <a:sym typeface="Arial"/>
              </a:rPr>
              <a:t>за 30 секунд.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4"/>
          <p:cNvSpPr/>
          <p:nvPr/>
        </p:nvSpPr>
        <p:spPr>
          <a:xfrm>
            <a:off x="8572500" y="4693890"/>
            <a:ext cx="1143000" cy="28575"/>
          </a:xfrm>
          <a:prstGeom prst="roundRect">
            <a:avLst>
              <a:gd fmla="val 50000" name="adj"/>
            </a:avLst>
          </a:prstGeom>
          <a:solidFill>
            <a:srgbClr val="2DD4A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4"/>
          <p:cNvSpPr/>
          <p:nvPr/>
        </p:nvSpPr>
        <p:spPr>
          <a:xfrm>
            <a:off x="6374011" y="5103465"/>
            <a:ext cx="5539978" cy="1293316"/>
          </a:xfrm>
          <a:prstGeom prst="roundRect">
            <a:avLst>
              <a:gd fmla="val 8838" name="adj"/>
            </a:avLst>
          </a:prstGeom>
          <a:solidFill>
            <a:srgbClr val="131A24"/>
          </a:solidFill>
          <a:ln cap="flat" cmpd="sng" w="9525">
            <a:solidFill>
              <a:srgbClr val="1E2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4"/>
          <p:cNvSpPr/>
          <p:nvPr/>
        </p:nvSpPr>
        <p:spPr>
          <a:xfrm>
            <a:off x="6757636" y="5341590"/>
            <a:ext cx="4772727" cy="85516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2DD4A8"/>
              </a:buClr>
              <a:buSzPts val="1950"/>
              <a:buFont typeface="JetBrains Mono"/>
              <a:buNone/>
            </a:pPr>
            <a:r>
              <a:rPr b="0" i="0" lang="en-US" sz="1950" u="none" cap="none" strike="noStrike">
                <a:solidFill>
                  <a:srgbClr val="2DD4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npx</a:t>
            </a:r>
            <a:r>
              <a:rPr b="0" i="0" lang="en-US" sz="1950" u="none" cap="none" strike="noStrike">
                <a:solidFill>
                  <a:srgbClr val="8B9DB5"/>
                </a:solidFill>
                <a:highlight>
                  <a:srgbClr val="131A24"/>
                </a:highlight>
                <a:latin typeface="JetBrains Mono"/>
                <a:ea typeface="JetBrains Mono"/>
                <a:cs typeface="JetBrains Mono"/>
                <a:sym typeface="JetBrains Mono"/>
              </a:rPr>
              <a:t> -y @backtest-kit/cli --init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4"/>
          <p:cNvSpPr/>
          <p:nvPr/>
        </p:nvSpPr>
        <p:spPr>
          <a:xfrm>
            <a:off x="4832491" y="6930182"/>
            <a:ext cx="2735973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GITHUB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4"/>
          <p:cNvSpPr/>
          <p:nvPr/>
        </p:nvSpPr>
        <p:spPr>
          <a:xfrm>
            <a:off x="4832491" y="7254032"/>
            <a:ext cx="2735973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tripolskypetr/backtest-kit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4"/>
          <p:cNvSpPr/>
          <p:nvPr/>
        </p:nvSpPr>
        <p:spPr>
          <a:xfrm>
            <a:off x="7945096" y="6930182"/>
            <a:ext cx="279637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EMAIL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4"/>
          <p:cNvSpPr/>
          <p:nvPr/>
        </p:nvSpPr>
        <p:spPr>
          <a:xfrm>
            <a:off x="7945096" y="7254032"/>
            <a:ext cx="279637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tripolskypetr@gmail.com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4"/>
          <p:cNvSpPr/>
          <p:nvPr/>
        </p:nvSpPr>
        <p:spPr>
          <a:xfrm>
            <a:off x="11119842" y="6930182"/>
            <a:ext cx="2333774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500"/>
              <a:buFont typeface="JetBrains Mono"/>
              <a:buNone/>
            </a:pPr>
            <a:r>
              <a:rPr b="0" i="0" lang="en-US" sz="1500" u="none" cap="none" strike="noStrike">
                <a:solidFill>
                  <a:srgbClr val="5A6F8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ДОКУМЕНТАЦИЯ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4"/>
          <p:cNvSpPr/>
          <p:nvPr/>
        </p:nvSpPr>
        <p:spPr>
          <a:xfrm>
            <a:off x="11119842" y="7254032"/>
            <a:ext cx="2333774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backtest-kit.github.io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4"/>
          <p:cNvSpPr/>
          <p:nvPr/>
        </p:nvSpPr>
        <p:spPr>
          <a:xfrm>
            <a:off x="3625609" y="8235107"/>
            <a:ext cx="11036634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F87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5A6F87"/>
                </a:solidFill>
                <a:latin typeface="Arial"/>
                <a:ea typeface="Arial"/>
                <a:cs typeface="Arial"/>
                <a:sym typeface="Arial"/>
              </a:rPr>
              <a:t>© 2026 TheOneTrade · Стратегии симулированы на исторических данных · Прошлые результаты не гарантируют будущую доходность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2026-05-22T12:44:03Z</dcterms:created>
  <dc:creator>PptxGenJS</dc:creator>
</cp:coreProperties>
</file>