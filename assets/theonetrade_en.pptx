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10287000" cx="18288000"/>
  <p:notesSz cx="10287000" cy="18288000"/>
  <p:embeddedFontLs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hT2nQn1OL1Iy1jCTtqFUCWy1x6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slide" Target="slides/slide7.xml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6.xml"/><Relationship Id="rId21" Type="http://schemas.openxmlformats.org/officeDocument/2006/relationships/font" Target="fonts/JetBrainsMono-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" name="Google Shape;4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" name="Google Shape;4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7" name="Google Shape;6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" name="Google Shape;9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" name="Google Shape;14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2" name="Google Shape;19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9" name="Google Shape;22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0" name="Google Shape;2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2" name="Google Shape;30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0" name="Google Shape;32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1" name="Google Shape;32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8" name="Google Shape;35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5" name="Google Shape;40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6" name="Google Shape;40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7750" y="990600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1504950" y="1009650"/>
            <a:ext cx="10690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TheOne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2612082" y="1009650"/>
            <a:ext cx="787747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Trade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2268200" y="952500"/>
            <a:ext cx="4972050" cy="419100"/>
          </a:xfrm>
          <a:prstGeom prst="roundRect">
            <a:avLst>
              <a:gd fmla="val 5000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12449175" y="1123950"/>
            <a:ext cx="76200" cy="7620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2601575" y="1038225"/>
            <a:ext cx="459143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v6.0 · backtest-kit · open source · MIT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1047750" y="1454944"/>
            <a:ext cx="10791825" cy="25067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Trading systems that </a:t>
            </a:r>
            <a:r>
              <a:rPr b="1" i="0" lang="en-US" sz="54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think </a:t>
            </a:r>
            <a:r>
              <a:rPr b="1" i="0" lang="en-US" sz="54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before </a:t>
            </a:r>
            <a:r>
              <a:rPr b="1" i="0" lang="en-US" sz="5400" u="none" cap="none" strike="noStrike">
                <a:solidFill>
                  <a:srgbClr val="EAB308"/>
                </a:solidFill>
                <a:latin typeface="Arial"/>
                <a:ea typeface="Arial"/>
                <a:cs typeface="Arial"/>
                <a:sym typeface="Arial"/>
              </a:rPr>
              <a:t>the trade.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047750" y="4228350"/>
            <a:ext cx="11155200" cy="34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3300"/>
              <a:buFont typeface="Arial"/>
              <a:buNone/>
            </a:pPr>
            <a:r>
              <a:rPr b="0" i="0" lang="en-US" sz="33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AI-native trading agency with a quant team. We have an open-source runtime (backtest-kit) where LLM reasoning and news sentiment analysis are used to find optimal entry points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1047750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362075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1362075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look-ahead bias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362075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AsyncLocalStorage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5133975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5448300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1.08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5448300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Sharpe ratio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5448300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TRX Jan 2026 case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9220200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9534525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100%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9534525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code parity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9534525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backtest = live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13306425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13620750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10+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13620750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LLM providers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13620750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OpenAI · Claude · Ollama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5" name="Google Shape;45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2"/>
          <p:cNvSpPr/>
          <p:nvPr/>
        </p:nvSpPr>
        <p:spPr>
          <a:xfrm>
            <a:off x="1047750" y="952500"/>
            <a:ext cx="19335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PROBLEM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047750" y="1581150"/>
            <a:ext cx="13735050" cy="152757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95% of trading bots use the same five strategies from tutorials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047750" y="3451622"/>
            <a:ext cx="762000" cy="28575"/>
          </a:xfrm>
          <a:prstGeom prst="roundRect">
            <a:avLst>
              <a:gd fmla="val 5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1047750" y="3861197"/>
            <a:ext cx="8044815" cy="240000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Crypto markets have entered second-order chaos. Thousands of identical RSI / MACD / Bollinger bots execute the same signal in the same 100-millisecond window — they create the very noise they are trying to trade.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047750" y="7096373"/>
            <a:ext cx="8044800" cy="510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The only beneficiary is the exchange fee.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9429750" y="3861197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F87171">
              <a:alpha val="12156"/>
            </a:srgbClr>
          </a:solidFill>
          <a:ln cap="flat" cmpd="sng" w="9525">
            <a:solidFill>
              <a:srgbClr val="F87171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9591675" y="3927872"/>
            <a:ext cx="100206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RSI · 85%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10793760" y="3861197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F87171">
              <a:alpha val="12156"/>
            </a:srgbClr>
          </a:solidFill>
          <a:ln cap="flat" cmpd="sng" w="9525">
            <a:solidFill>
              <a:srgbClr val="F87171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10955685" y="3927872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MACD · 78%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2260610" y="3861197"/>
            <a:ext cx="186690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12422535" y="3927872"/>
            <a:ext cx="1619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EMA cross · 72%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4241810" y="3861197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14403735" y="3927872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BB · 65%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9429750" y="4442222"/>
            <a:ext cx="8044815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Share of retail bots using each indicator. Combinations are also standard: RSI+MACD is the most popular.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9429750" y="5451872"/>
            <a:ext cx="7810500" cy="2000250"/>
          </a:xfrm>
          <a:prstGeom prst="roundRect">
            <a:avLst>
              <a:gd fmla="val 5714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9820275" y="5804297"/>
            <a:ext cx="117351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−18%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5229433" y="5966222"/>
            <a:ext cx="1696492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per bot / day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9820275" y="6455780"/>
            <a:ext cx="72402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1,000 identical bots × 100 trades/day × −0.18% per round-trip. Exchange earns +$8,000/day.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69" name="Google Shape;6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"/>
          <p:cNvSpPr/>
          <p:nvPr/>
        </p:nvSpPr>
        <p:spPr>
          <a:xfrm>
            <a:off x="1047750" y="952500"/>
            <a:ext cx="19335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PROBLEM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47750" y="1581150"/>
            <a:ext cx="166782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Anatomy of self-destruction: one algorithm against itself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047750" y="2962275"/>
            <a:ext cx="7905750" cy="6219825"/>
          </a:xfrm>
          <a:prstGeom prst="roundRect">
            <a:avLst>
              <a:gd fmla="val 183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362075" y="3238500"/>
            <a:ext cx="7514273" cy="5705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Every 100ms on the exchange: 09:00.000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BTC drops to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$87,300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09:00.050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1000 bots see: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RSI &lt; 30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"RSI in oversold zone"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"This is a buy signal" 09:00.100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All send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BUY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09:00.150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Price spikes to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$87,450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09:00.200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RSI instantly = </a:t>
            </a:r>
            <a:r>
              <a:rPr b="0" i="0" lang="en-US" sz="15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75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"RSI in overbought zone"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"This is a sell signal" 09:00.250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All send </a:t>
            </a:r>
            <a:r>
              <a:rPr b="0" i="0" lang="en-US" sz="15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SELL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09:00.300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Price back to: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$87,300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9334500" y="3014663"/>
            <a:ext cx="7905750" cy="1933575"/>
          </a:xfrm>
          <a:prstGeom prst="roundRect">
            <a:avLst>
              <a:gd fmla="val 5911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9725025" y="3367088"/>
            <a:ext cx="733844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RESULT PER BOT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9725025" y="3709988"/>
            <a:ext cx="73384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3300"/>
              <a:buFont typeface="JetBrains Mono"/>
              <a:buNone/>
            </a:pPr>
            <a:r>
              <a:rPr b="1" i="0" lang="en-US" sz="33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−0.18%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9725025" y="4224338"/>
            <a:ext cx="733844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−0.1% spread − 0.08% fees per round-trip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9334500" y="5176838"/>
            <a:ext cx="7905750" cy="1933575"/>
          </a:xfrm>
          <a:prstGeom prst="roundRect">
            <a:avLst>
              <a:gd fmla="val 5911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9725025" y="5529263"/>
            <a:ext cx="733844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RESULT FOR EXCHANGE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9725025" y="5872163"/>
            <a:ext cx="73384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3300"/>
              <a:buFont typeface="JetBrains Mono"/>
              <a:buNone/>
            </a:pPr>
            <a:r>
              <a:rPr b="1" i="0" lang="en-US" sz="33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+$8,000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9725025" y="6386513"/>
            <a:ext cx="733844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0.08% × 1,000 bots × 100 cycles/day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9334500" y="7339012"/>
            <a:ext cx="7905750" cy="1790700"/>
          </a:xfrm>
          <a:prstGeom prst="roundRect">
            <a:avLst>
              <a:gd fmla="val 6383" name="adj"/>
            </a:avLst>
          </a:prstGeom>
          <a:solidFill>
            <a:srgbClr val="131A24"/>
          </a:solidFill>
          <a:ln cap="flat" cmpd="sng" w="9525">
            <a:solidFill>
              <a:srgbClr val="EAB30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9725025" y="7691438"/>
            <a:ext cx="733844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PREDICTABLE STOP-LOSSES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9725025" y="8034338"/>
            <a:ext cx="7338441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90% of bots place SL at ATR × 1.5. Market makers see the clusters and hunt them.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1" name="Google Shape;9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"/>
          <p:cNvSpPr/>
          <p:nvPr/>
        </p:nvSpPr>
        <p:spPr>
          <a:xfrm>
            <a:off x="1047750" y="1638807"/>
            <a:ext cx="23622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METHODOLOGY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1047750" y="2153150"/>
            <a:ext cx="16304700" cy="16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Four engineering solutions that </a:t>
            </a:r>
            <a:r>
              <a:rPr b="1" i="0" lang="en-US" sz="54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compound the edge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1047750" y="4219961"/>
            <a:ext cx="8829600" cy="28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3300"/>
              <a:buFont typeface="Arial"/>
              <a:buNone/>
            </a:pPr>
            <a:r>
              <a:rPr b="0" i="0" lang="en-US" sz="33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Strategy alpha decays. The infrastructure beneath it does not. We invest in what makes every iteration verifiable, every signal reproducible, every run seamless.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0" name="Google Shape;10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"/>
          <p:cNvSpPr/>
          <p:nvPr/>
        </p:nvSpPr>
        <p:spPr>
          <a:xfrm>
            <a:off x="1047750" y="1004887"/>
            <a:ext cx="2362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METHODOLOGY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5990540" y="952500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16094303" y="994417"/>
            <a:ext cx="1146900" cy="3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Solution 1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1047750" y="1647825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Look-ahead bias is architecturally impossible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1047750" y="2604046"/>
            <a:ext cx="8103679" cy="193714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Every data request passes through the temporal context </a:t>
            </a:r>
            <a:r>
              <a:rPr b="0" i="0" lang="en-US" sz="24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AsyncLocalStorage </a:t>
            </a: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. The strategy physically cannot access future data — the runtime will deny access.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1047750" y="4769793"/>
            <a:ext cx="7867650" cy="3143250"/>
          </a:xfrm>
          <a:prstGeom prst="roundRect">
            <a:avLst>
              <a:gd fmla="val 3636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1362075" y="5046018"/>
            <a:ext cx="7475029" cy="26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No timestamp parameters.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Context is propagated automatically.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c1h  =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50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getCandles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(s,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"1h"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,  100); </a:t>
            </a:r>
            <a:endParaRPr b="0" i="0" sz="150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c15m =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50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getCandles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(s,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"15m"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, 100); </a:t>
            </a:r>
            <a:endParaRPr b="0" i="0" sz="150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c5m  =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50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getCandles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(s,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"5m"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,  100); </a:t>
            </a:r>
            <a:endParaRPr b="0" i="0" sz="150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→ all three are synchronized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  to the same backtest tick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9372600" y="3432721"/>
            <a:ext cx="7867650" cy="1762125"/>
          </a:xfrm>
          <a:prstGeom prst="roundRect">
            <a:avLst>
              <a:gd fmla="val 6486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9686925" y="3747046"/>
            <a:ext cx="207272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9848850" y="3813721"/>
            <a:ext cx="182507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AsyncLocalStorage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11873954" y="3747046"/>
            <a:ext cx="196988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12035879" y="3813721"/>
            <a:ext cx="172223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Promise.all-safe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9686925" y="4251871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Context is preserved across all async boundaries, including parallel requests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9372600" y="5385346"/>
            <a:ext cx="7867650" cy="1447800"/>
          </a:xfrm>
          <a:prstGeom prst="roundRect">
            <a:avLst>
              <a:gd fmla="val 7895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9686925" y="5699671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9848850" y="5766346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Backtest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10948095" y="5699671"/>
            <a:ext cx="83820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11110020" y="5766346"/>
            <a:ext cx="5905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Paper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11900595" y="5699671"/>
            <a:ext cx="73536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12062520" y="5766346"/>
            <a:ext cx="48771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9686925" y="6204496"/>
            <a:ext cx="7456170" cy="352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Same strategy code. The only difference is the source of </a:t>
            </a:r>
            <a:r>
              <a:rPr b="0" i="0" lang="en-US" sz="165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currentTime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9372600" y="7023646"/>
            <a:ext cx="7867650" cy="1672530"/>
          </a:xfrm>
          <a:prstGeom prst="roundRect">
            <a:avLst>
              <a:gd fmla="val 6834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9686925" y="7337971"/>
            <a:ext cx="7456170" cy="300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Multi-timeframe without errors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9686925" y="7753201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Synchronization of 1h / 15m / 5m data happens automatically through context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0" name="Google Shape;13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6"/>
          <p:cNvSpPr/>
          <p:nvPr/>
        </p:nvSpPr>
        <p:spPr>
          <a:xfrm>
            <a:off x="1047750" y="1004887"/>
            <a:ext cx="2362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METHODOLOGY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15990540" y="952500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16074383" y="994417"/>
            <a:ext cx="11049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Solution 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1047750" y="15716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LLM searches news before making a decision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1047750" y="3960841"/>
            <a:ext cx="8103600" cy="16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Eight specialized agents query Tavily and open sources for triggers — SEC actions, exchange hacks, presidential statements — over the past 4–12 hours.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047750" y="5903556"/>
            <a:ext cx="8103600" cy="12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Reasoning + Acting (ReAct) </a:t>
            </a: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— the agent alternates between reasoning and acting. Between reasoning steps it searches the news feed.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1047750" y="7446318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1209675" y="7512993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 loop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2552700" y="7446318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2714625" y="7512993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Tavily API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4057650" y="7446318"/>
            <a:ext cx="166122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4157680" y="7513000"/>
            <a:ext cx="18681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Zod validation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9372600" y="3909549"/>
            <a:ext cx="7867800" cy="5208000"/>
          </a:xfrm>
          <a:prstGeom prst="roundRect">
            <a:avLst>
              <a:gd fmla="val 458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9648825" y="4212075"/>
            <a:ext cx="6886800" cy="35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Level 1 — Acute events </a:t>
            </a:r>
            <a:endParaRPr b="0" i="0" sz="135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"BTC news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"SEC DOJ action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"exchange hack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t/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Level 2 — Macro </a:t>
            </a:r>
            <a:endParaRPr b="0" i="0" sz="135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"Fed surprise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t/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Level 3 — Volume </a:t>
            </a:r>
            <a:endParaRPr b="0" i="0" sz="135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"BTC volume spike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0" name="Google Shape;15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7"/>
          <p:cNvSpPr/>
          <p:nvPr/>
        </p:nvSpPr>
        <p:spPr>
          <a:xfrm>
            <a:off x="1047750" y="1004887"/>
            <a:ext cx="2362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METHODOLOGY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5990540" y="952500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16077487" y="994417"/>
            <a:ext cx="111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Solution 3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1047750" y="1647825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Pine Script runs where TradingView is unavailable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1047750" y="2604046"/>
            <a:ext cx="8103679" cy="19276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PineTS executes .pine files locally on any data. Strategies built for BTC on Binance deploy unchanged on emerging market exchanges.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1047750" y="4760268"/>
            <a:ext cx="7867650" cy="2819400"/>
          </a:xfrm>
          <a:prstGeom prst="roundRect">
            <a:avLst>
              <a:gd fmla="val 4054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1362075" y="5036493"/>
            <a:ext cx="7475029" cy="2305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npm start --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--pine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./math/feb_2026.pine </a:t>
            </a:r>
            <a:endParaRPr b="0" i="0" sz="1500" u="none" cap="none" strike="noStrike">
              <a:solidFill>
                <a:srgbClr val="EAB30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--timeframe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15m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--limit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500</a:t>
            </a:r>
            <a:endParaRPr b="0" i="0" sz="1500" u="none" cap="none" strike="noStrike">
              <a:solidFill>
                <a:srgbClr val="EAB30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--when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"2026-02-28T00:00:00Z"</a:t>
            </a:r>
            <a:endParaRPr b="0" i="0" sz="1500" u="none" cap="none" strike="noStrike">
              <a:solidFill>
                <a:srgbClr val="EAB30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--jsonl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→ dump for LLM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9372600" y="336887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9610725" y="360699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UZSE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9610725" y="394989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Uzbekistan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9610725" y="441662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9715500" y="445472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13373100" y="336887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13611225" y="360699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13611225" y="394989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Mongolia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13611225" y="441662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13716000" y="445472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9372600" y="5035748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9610725" y="5273873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9610725" y="5616773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Dhaka, Bangladesh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9610725" y="6083498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9715500" y="6121598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13373100" y="5035748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13611225" y="5273873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13611225" y="5616773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Ghana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13611225" y="6083498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13716000" y="6121598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9372600" y="670262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9610725" y="694074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SGBV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9610725" y="728364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Algeria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9610725" y="775037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9715500" y="778847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13373100" y="670262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13611225" y="694074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13611225" y="728364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Botswana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13611225" y="775037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13716000" y="778847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9254585" y="8388548"/>
            <a:ext cx="8103679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60+ indicators · Pine Script v5/v6 · JSONL-native output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5" name="Google Shape;19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8"/>
          <p:cNvSpPr/>
          <p:nvPr/>
        </p:nvSpPr>
        <p:spPr>
          <a:xfrm>
            <a:off x="1047750" y="1004875"/>
            <a:ext cx="24156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CASE STUDIES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14653171" y="952500"/>
            <a:ext cx="258707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14753205" y="994417"/>
            <a:ext cx="27603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February 2026 · BTCUSDT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1047750" y="16097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 workflow for liquidation cascades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1047750" y="2484090"/>
            <a:ext cx="8103679" cy="169128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Claude Code analyzes news, price correlation and formulates a hypothesis — no iterative brute-force. The strategy explains market mechanics rather than hunting random correlations.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1047750" y="4403973"/>
            <a:ext cx="133350" cy="13335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1409700" y="4327773"/>
            <a:ext cx="420360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Feb 5 — Flash crash ($60K)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409700" y="4699250"/>
            <a:ext cx="66708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V-bounce +15%, $700M in liquidations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1047750" y="5261223"/>
            <a:ext cx="133350" cy="13335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1409700" y="5185023"/>
            <a:ext cx="363135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Feb 10 — Secondary cascade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1409700" y="5556498"/>
            <a:ext cx="363135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$71K → $67K, ETF outflows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1047750" y="6118473"/>
            <a:ext cx="133350" cy="13335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1409700" y="6042273"/>
            <a:ext cx="319278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Feb 23 — Tariff shock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1409700" y="6413748"/>
            <a:ext cx="319278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$67.7K → $62.5K, bounce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1047750" y="6975723"/>
            <a:ext cx="8103679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Strategy: LONG after liquidation spike (ATR × 2 + Volume × 1.8). Fixed exits: TP +1.5%, SL −0.8%.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9372600" y="3889921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9648825" y="4166146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+4.28%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9648825" y="4718596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Total PNL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13382625" y="3889921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13658850" y="4166146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83.3%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13658850" y="4718596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Win Rate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9372600" y="5442496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9648825" y="5718721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4.58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9648825" y="6271171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Profit Factor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13382625" y="5442496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13658850" y="5718721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0.00%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13658850" y="6271171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Max Drawdown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9372600" y="6995075"/>
            <a:ext cx="7867800" cy="1262400"/>
          </a:xfrm>
          <a:prstGeom prst="roundRect">
            <a:avLst>
              <a:gd fmla="val 1016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9648825" y="7195096"/>
            <a:ext cx="7534656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SHARPE RATIO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9648825" y="7537996"/>
            <a:ext cx="7534656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3000"/>
              <a:buFont typeface="JetBrains Mono"/>
              <a:buNone/>
            </a:pPr>
            <a:r>
              <a:rPr b="1" i="0" lang="en-US" sz="30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0.84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1" name="Google Shape;23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/>
          <p:nvPr/>
        </p:nvSpPr>
        <p:spPr>
          <a:xfrm>
            <a:off x="1047750" y="1004875"/>
            <a:ext cx="22668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CASE STUDIES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4756011" y="952500"/>
            <a:ext cx="2484239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14856027" y="994417"/>
            <a:ext cx="2692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January 2026 · TRXUSDT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1047750" y="16097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Inversion of the liquidity harvesting algorithm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1047750" y="2484090"/>
            <a:ext cx="9724293" cy="12779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A Telegram channel recommends SHORT with x25 leverage — exactly at the 4H candle low. OSINT analysis reveals an algorithmic pattern whose inversion yields consistent profit.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1047750" y="4538365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276350" y="4143075"/>
            <a:ext cx="1221300" cy="28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STEP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905000" y="4538365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2133600" y="4143077"/>
            <a:ext cx="8384125" cy="28098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1047750" y="5224165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1276350" y="4719340"/>
            <a:ext cx="4762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1905000" y="5224165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2133600" y="4719340"/>
            <a:ext cx="8384125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Export all public signals with timestamps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1047750" y="6167140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9"/>
          <p:cNvSpPr/>
          <p:nvPr/>
        </p:nvSpPr>
        <p:spPr>
          <a:xfrm>
            <a:off x="1276350" y="5405140"/>
            <a:ext cx="476250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1905000" y="6167140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9"/>
          <p:cNvSpPr/>
          <p:nvPr/>
        </p:nvSpPr>
        <p:spPr>
          <a:xfrm>
            <a:off x="2133600" y="5405140"/>
            <a:ext cx="8384125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Algorithm identified: TP multipliers are always ×1.52→×1.74→×1.47→×1.50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1047750" y="7110115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/>
          <p:nvPr/>
        </p:nvSpPr>
        <p:spPr>
          <a:xfrm>
            <a:off x="1276350" y="6348115"/>
            <a:ext cx="476250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1905000" y="7110115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/>
          <p:nvPr/>
        </p:nvSpPr>
        <p:spPr>
          <a:xfrm>
            <a:off x="2133600" y="6348115"/>
            <a:ext cx="8384125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Volume anomaly 15 min before each post — channel opens positions before publishing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1276350" y="7291090"/>
            <a:ext cx="476250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2133600" y="7291090"/>
            <a:ext cx="8384125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Invert the position, filter by midpoint of the 4H range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10946011" y="3389858"/>
            <a:ext cx="6294239" cy="1628775"/>
          </a:xfrm>
          <a:prstGeom prst="roundRect">
            <a:avLst>
              <a:gd fmla="val 701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9"/>
          <p:cNvSpPr/>
          <p:nvPr/>
        </p:nvSpPr>
        <p:spPr>
          <a:xfrm>
            <a:off x="11336536" y="3742283"/>
            <a:ext cx="567858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+8.54%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11336536" y="4370933"/>
            <a:ext cx="5678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Portfolio PnL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10946011" y="5171033"/>
            <a:ext cx="6294239" cy="1628775"/>
          </a:xfrm>
          <a:prstGeom prst="roundRect">
            <a:avLst>
              <a:gd fmla="val 701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11336536" y="5523458"/>
            <a:ext cx="567858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1.08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11336536" y="6152108"/>
            <a:ext cx="5678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Sharpe Ratio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10946011" y="6952208"/>
            <a:ext cx="3089970" cy="1666875"/>
          </a:xfrm>
          <a:prstGeom prst="roundRect">
            <a:avLst>
              <a:gd fmla="val 6857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11184136" y="7190333"/>
            <a:ext cx="2692131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8/8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11184136" y="7638008"/>
            <a:ext cx="2692131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inverted signals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14150280" y="6952208"/>
            <a:ext cx="3089970" cy="1666875"/>
          </a:xfrm>
          <a:prstGeom prst="roundRect">
            <a:avLst>
              <a:gd fmla="val 6857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14388405" y="7190333"/>
            <a:ext cx="2692131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&lt; 45 min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14376026" y="7638008"/>
            <a:ext cx="26922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hold time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72" name="Google Shape;27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0"/>
          <p:cNvSpPr/>
          <p:nvPr/>
        </p:nvSpPr>
        <p:spPr>
          <a:xfrm>
            <a:off x="1047750" y="1004875"/>
            <a:ext cx="24843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CASE STUDIES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0"/>
          <p:cNvSpPr/>
          <p:nvPr/>
        </p:nvSpPr>
        <p:spPr>
          <a:xfrm>
            <a:off x="14756011" y="952500"/>
            <a:ext cx="248423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0"/>
          <p:cNvSpPr/>
          <p:nvPr/>
        </p:nvSpPr>
        <p:spPr>
          <a:xfrm>
            <a:off x="14917936" y="1019175"/>
            <a:ext cx="223658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April 2026 · BTCUSDT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0"/>
          <p:cNvSpPr/>
          <p:nvPr/>
        </p:nvSpPr>
        <p:spPr>
          <a:xfrm>
            <a:off x="1047750" y="16097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Three agent decisions during the Iran crisis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0"/>
          <p:cNvSpPr/>
          <p:nvPr/>
        </p:nvSpPr>
        <p:spPr>
          <a:xfrm>
            <a:off x="1047750" y="2484090"/>
            <a:ext cx="98107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Real outputs of the ReAct pipeline — news search, contradiction assessment, one signal with written reasoning.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1047750" y="3560415"/>
            <a:ext cx="5245001" cy="5964585"/>
          </a:xfrm>
          <a:prstGeom prst="roundRect">
            <a:avLst>
              <a:gd fmla="val 217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1438275" y="3912840"/>
            <a:ext cx="185931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APRIL 5,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1438275" y="4274790"/>
            <a:ext cx="4597869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US Ultimatum to Iran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438275" y="6216551"/>
            <a:ext cx="4597869" cy="9382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75"/>
              <a:buFont typeface="Arial"/>
              <a:buNone/>
            </a:pPr>
            <a:r>
              <a:rPr b="0" i="0" lang="en-US" sz="1575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Geopolitics creates uncertainty. RSI=44, volume low, Fear&amp;Greed=12. Signals are contradictory.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1438275" y="8686800"/>
            <a:ext cx="979289" cy="485775"/>
          </a:xfrm>
          <a:prstGeom prst="roundRect">
            <a:avLst>
              <a:gd fmla="val 11765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1676400" y="8791575"/>
            <a:ext cx="579239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WAIT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4564856" y="8743950"/>
            <a:ext cx="14135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conf: 67%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6521351" y="3560415"/>
            <a:ext cx="5245150" cy="5964585"/>
          </a:xfrm>
          <a:prstGeom prst="roundRect">
            <a:avLst>
              <a:gd fmla="val 2179" name="adj"/>
            </a:avLst>
          </a:prstGeom>
          <a:solidFill>
            <a:srgbClr val="131A24"/>
          </a:solidFill>
          <a:ln cap="flat" cmpd="sng" w="9525">
            <a:solidFill>
              <a:srgbClr val="2DD4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6911876" y="3912840"/>
            <a:ext cx="185931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APRIL 8,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6911876" y="4274790"/>
            <a:ext cx="459802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Two-week ceasefire with Iran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6911876" y="6366570"/>
            <a:ext cx="4598023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75"/>
              <a:buFont typeface="Arial"/>
              <a:buNone/>
            </a:pPr>
            <a:r>
              <a:rPr b="0" i="0" lang="en-US" sz="1575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Rally to $72K, $425M in short liquidations, volume &gt;2M BTC/hour. Sharp bullish impulse.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6911876" y="8686800"/>
            <a:ext cx="853529" cy="485775"/>
          </a:xfrm>
          <a:prstGeom prst="roundRect">
            <a:avLst>
              <a:gd fmla="val 11765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0"/>
          <p:cNvSpPr/>
          <p:nvPr/>
        </p:nvSpPr>
        <p:spPr>
          <a:xfrm>
            <a:off x="7150001" y="8791575"/>
            <a:ext cx="453479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BUY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10038606" y="8743950"/>
            <a:ext cx="14135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conf: 91%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11995100" y="3560415"/>
            <a:ext cx="5245150" cy="5964585"/>
          </a:xfrm>
          <a:prstGeom prst="roundRect">
            <a:avLst>
              <a:gd fmla="val 217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12385625" y="3912840"/>
            <a:ext cx="185931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APRIL 9,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12385625" y="4274790"/>
            <a:ext cx="4598023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Quantum threats + miner selling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0"/>
          <p:cNvSpPr/>
          <p:nvPr/>
        </p:nvSpPr>
        <p:spPr>
          <a:xfrm>
            <a:off x="12385625" y="6402288"/>
            <a:ext cx="4598023" cy="9382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75"/>
              <a:buFont typeface="Arial"/>
              <a:buNone/>
            </a:pPr>
            <a:r>
              <a:rPr b="0" i="0" lang="en-US" sz="1575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Break above $71K, but strong bearish factors: hash rate falling, put options dominate (premium ~17%).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12385625" y="8686800"/>
            <a:ext cx="979289" cy="485775"/>
          </a:xfrm>
          <a:prstGeom prst="roundRect">
            <a:avLst>
              <a:gd fmla="val 11765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12623750" y="8791575"/>
            <a:ext cx="579239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WAIT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15512355" y="8743950"/>
            <a:ext cx="14135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conf: 73%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04" name="Google Shape;30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11"/>
          <p:cNvSpPr/>
          <p:nvPr/>
        </p:nvSpPr>
        <p:spPr>
          <a:xfrm>
            <a:off x="1047750" y="952500"/>
            <a:ext cx="13620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/ STACK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1047750" y="1543050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Open stack: from signal to execution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1"/>
          <p:cNvSpPr/>
          <p:nvPr/>
        </p:nvSpPr>
        <p:spPr>
          <a:xfrm>
            <a:off x="1047750" y="3259325"/>
            <a:ext cx="7998600" cy="5505600"/>
          </a:xfrm>
          <a:prstGeom prst="roundRect">
            <a:avLst>
              <a:gd fmla="val 2076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1"/>
          <p:cNvSpPr/>
          <p:nvPr/>
        </p:nvSpPr>
        <p:spPr>
          <a:xfrm>
            <a:off x="1362075" y="3535550"/>
            <a:ext cx="7867500" cy="49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github.com/tripolskypetr/backtest-kit v6.0.0 · MIT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backtest-kit/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@backtest-kit/cli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scaffold·dump·backtest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@backtest-kit/pinets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Pine Script runtime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@backtest-kit/graph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reactive source/output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@backtest-kit/ui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trade lifecycle UI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@backtest-kit/ollama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10+ LLM providers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agent-swarm-kit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 + tool-calling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functools-kit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Cache·str·AsyncLocal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└─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garch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GARCH volatility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9372600" y="3089970"/>
            <a:ext cx="7867650" cy="2030611"/>
          </a:xfrm>
          <a:prstGeom prst="roundRect">
            <a:avLst>
              <a:gd fmla="val 562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1"/>
          <p:cNvSpPr/>
          <p:nvPr/>
        </p:nvSpPr>
        <p:spPr>
          <a:xfrm>
            <a:off x="9686925" y="3404295"/>
            <a:ext cx="7456170" cy="3446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Self-validating runtime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9686925" y="3863280"/>
            <a:ext cx="745617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Look-ahead bias, missing SL, incorrect R:R — all caught by Zod validators and AsyncLocalStorage before signal dispatch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9372600" y="5311080"/>
            <a:ext cx="7867650" cy="1716286"/>
          </a:xfrm>
          <a:prstGeom prst="roundRect">
            <a:avLst>
              <a:gd fmla="val 666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9686925" y="5625405"/>
            <a:ext cx="7456170" cy="3446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Parallel execution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/>
          <p:nvPr/>
        </p:nvSpPr>
        <p:spPr>
          <a:xfrm>
            <a:off x="9686925" y="6084391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Hundreds of strategies run through a shared exchange handler, shared risk validator pool, shared queue. Monorepo architecture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1"/>
          <p:cNvSpPr/>
          <p:nvPr/>
        </p:nvSpPr>
        <p:spPr>
          <a:xfrm>
            <a:off x="9372600" y="7217866"/>
            <a:ext cx="7867650" cy="1716286"/>
          </a:xfrm>
          <a:prstGeom prst="roundRect">
            <a:avLst>
              <a:gd fmla="val 666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1"/>
          <p:cNvSpPr/>
          <p:nvPr/>
        </p:nvSpPr>
        <p:spPr>
          <a:xfrm>
            <a:off x="9686925" y="7532191"/>
            <a:ext cx="7456170" cy="3446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JSONL-native logs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1"/>
          <p:cNvSpPr/>
          <p:nvPr/>
        </p:nvSpPr>
        <p:spPr>
          <a:xfrm>
            <a:off x="9686925" y="7991177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Every tick, every reasoning chain, every risk rejection — in JSON Lines format. Claude Code reads them directly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23" name="Google Shape;32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2"/>
          <p:cNvSpPr/>
          <p:nvPr/>
        </p:nvSpPr>
        <p:spPr>
          <a:xfrm>
            <a:off x="1047750" y="952500"/>
            <a:ext cx="16478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/ SERVICES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1047750" y="1543050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Five service lines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1047750" y="4214217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1047750" y="2799755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1695450" y="2799755"/>
            <a:ext cx="14343317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 Strategy Development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1695450" y="3204567"/>
            <a:ext cx="14343317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Collaborative strategy development: market structure analysis, hypothesis formulation, Pine Script, calendar-frame validation. Monthly recalibration.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15887700" y="3197423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16049625" y="3264098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Engagement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1047750" y="5533430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1047750" y="4490442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1695450" y="4490442"/>
            <a:ext cx="14661093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Discretionary Asset Management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2"/>
          <p:cNvSpPr/>
          <p:nvPr/>
        </p:nvSpPr>
        <p:spPr>
          <a:xfrm>
            <a:off x="1695450" y="4895255"/>
            <a:ext cx="1466109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Strategy deployment under your mandate. JSONL audit of every trade, real-time dashboard. Min. $250K AUM.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16196221" y="4702373"/>
            <a:ext cx="1044029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16358146" y="4769048"/>
            <a:ext cx="79637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Managed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1047750" y="6852642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2"/>
          <p:cNvSpPr/>
          <p:nvPr/>
        </p:nvSpPr>
        <p:spPr>
          <a:xfrm>
            <a:off x="1047750" y="5809655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/>
          <p:nvPr/>
        </p:nvSpPr>
        <p:spPr>
          <a:xfrm>
            <a:off x="1695450" y="5809655"/>
            <a:ext cx="14555167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Quant Team Training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2"/>
          <p:cNvSpPr/>
          <p:nvPr/>
        </p:nvSpPr>
        <p:spPr>
          <a:xfrm>
            <a:off x="1695450" y="6214467"/>
            <a:ext cx="1455516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Workshops: AsyncLocalStorage, ReAct agents, Pine Script → TypeScript, swarm-kit deployment. 2/5-day intensives.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16093380" y="6021586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2"/>
          <p:cNvSpPr/>
          <p:nvPr/>
        </p:nvSpPr>
        <p:spPr>
          <a:xfrm>
            <a:off x="16255305" y="6088261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Training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2"/>
          <p:cNvSpPr/>
          <p:nvPr/>
        </p:nvSpPr>
        <p:spPr>
          <a:xfrm>
            <a:off x="1047750" y="8171855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2"/>
          <p:cNvSpPr/>
          <p:nvPr/>
        </p:nvSpPr>
        <p:spPr>
          <a:xfrm>
            <a:off x="1047750" y="7128867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2"/>
          <p:cNvSpPr/>
          <p:nvPr/>
        </p:nvSpPr>
        <p:spPr>
          <a:xfrm>
            <a:off x="1695450" y="7128867"/>
            <a:ext cx="13919461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Emerging Market Integration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2"/>
          <p:cNvSpPr/>
          <p:nvPr/>
        </p:nvSpPr>
        <p:spPr>
          <a:xfrm>
            <a:off x="1695450" y="7533680"/>
            <a:ext cx="1391946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Scraping, candle synthesis, data pipeline for 8 exchanges without TradingView: UZSE, MSE, DSE, GSE and others.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2"/>
          <p:cNvSpPr/>
          <p:nvPr/>
        </p:nvSpPr>
        <p:spPr>
          <a:xfrm>
            <a:off x="15476190" y="7340798"/>
            <a:ext cx="176406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15638115" y="7407473"/>
            <a:ext cx="151641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Infrastructure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1047750" y="8448080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2"/>
          <p:cNvSpPr/>
          <p:nvPr/>
        </p:nvSpPr>
        <p:spPr>
          <a:xfrm>
            <a:off x="1695450" y="8448080"/>
            <a:ext cx="14555167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backtest-kit Enterprise License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/>
          <p:nvPr/>
        </p:nvSpPr>
        <p:spPr>
          <a:xfrm>
            <a:off x="1695450" y="8852892"/>
            <a:ext cx="1455516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Commercial license, priority support, custom risk validators, SLA deployment. Self-hosted or cloud.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2"/>
          <p:cNvSpPr/>
          <p:nvPr/>
        </p:nvSpPr>
        <p:spPr>
          <a:xfrm>
            <a:off x="16093380" y="8660011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2"/>
          <p:cNvSpPr/>
          <p:nvPr/>
        </p:nvSpPr>
        <p:spPr>
          <a:xfrm>
            <a:off x="16255305" y="8726686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60" name="Google Shape;3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13"/>
          <p:cNvSpPr/>
          <p:nvPr/>
        </p:nvSpPr>
        <p:spPr>
          <a:xfrm>
            <a:off x="1047750" y="952500"/>
            <a:ext cx="25050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/ RESEARCH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3"/>
          <p:cNvSpPr/>
          <p:nvPr/>
        </p:nvSpPr>
        <p:spPr>
          <a:xfrm>
            <a:off x="1047750" y="1543050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10 research articles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1047750" y="24555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3"/>
          <p:cNvSpPr/>
          <p:nvPr/>
        </p:nvSpPr>
        <p:spPr>
          <a:xfrm>
            <a:off x="1285875" y="28031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1796504" y="2693640"/>
            <a:ext cx="383293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Look-Ahead Bias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/>
          <p:nvPr/>
        </p:nvSpPr>
        <p:spPr>
          <a:xfrm>
            <a:off x="1796504" y="3065115"/>
            <a:ext cx="383293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AsyncLocalStorage as temporal context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9220200" y="24555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"/>
          <p:cNvSpPr/>
          <p:nvPr/>
        </p:nvSpPr>
        <p:spPr>
          <a:xfrm>
            <a:off x="9458325" y="28031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9968954" y="2693640"/>
            <a:ext cx="340356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Second-Order Chaos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/>
          <p:nvPr/>
        </p:nvSpPr>
        <p:spPr>
          <a:xfrm>
            <a:off x="9968954" y="3065115"/>
            <a:ext cx="340356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Why 1000 RSI bots lose 18%/day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1047750" y="36556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3"/>
          <p:cNvSpPr/>
          <p:nvPr/>
        </p:nvSpPr>
        <p:spPr>
          <a:xfrm>
            <a:off x="1285875" y="40033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1796504" y="3893790"/>
            <a:ext cx="39615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 Gets Hands for Trading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1796504" y="4265265"/>
            <a:ext cx="39615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Claude Code + local Pine Script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9220200" y="36556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9458325" y="40033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9968948" y="3893800"/>
            <a:ext cx="63438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Why the Price Drops in a Single Candle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/>
          <p:nvPr/>
        </p:nvSpPr>
        <p:spPr>
          <a:xfrm>
            <a:off x="9968954" y="4265265"/>
            <a:ext cx="4360418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Gamma convexity and liquidation cascades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1047750" y="48558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3"/>
          <p:cNvSpPr/>
          <p:nvPr/>
        </p:nvSpPr>
        <p:spPr>
          <a:xfrm>
            <a:off x="1285875" y="52034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1796504" y="5093940"/>
            <a:ext cx="336922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 Workflow for Cascades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1796504" y="5465415"/>
            <a:ext cx="3369226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Claude /loop, calendar-month strategies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9220200" y="48558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3"/>
          <p:cNvSpPr/>
          <p:nvPr/>
        </p:nvSpPr>
        <p:spPr>
          <a:xfrm>
            <a:off x="9458325" y="52034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9968954" y="5093940"/>
            <a:ext cx="347714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News Sentiment AI Blueprint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3"/>
          <p:cNvSpPr/>
          <p:nvPr/>
        </p:nvSpPr>
        <p:spPr>
          <a:xfrm>
            <a:off x="9968954" y="5465415"/>
            <a:ext cx="347714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ReAct pattern for trading signals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1047750" y="60559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1285875" y="64036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1796504" y="6294090"/>
            <a:ext cx="4181219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News Sentiment as a Signal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1796504" y="6665565"/>
            <a:ext cx="418121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Vector search, 24-hour window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9220200" y="60559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9458325" y="64036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9968954" y="6294090"/>
            <a:ext cx="354336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Liquidity Harvesting Machine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9968954" y="6665565"/>
            <a:ext cx="354336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Telegram channel inversion, Sharpe 1.08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1047750" y="72561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1285875" y="76037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1796498" y="7494250"/>
            <a:ext cx="72714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Pine Script on Exchanges Without TradingView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1796504" y="7865715"/>
            <a:ext cx="477047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UZSE, MSE, DSE — 8 regional exchanges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9220200" y="72561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9458325" y="76037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9968954" y="7494240"/>
            <a:ext cx="443292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Why Your Broker Froze Your Deposit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9968954" y="7865715"/>
            <a:ext cx="4432926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DCA, averaging and hidden drawdowns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4"/>
          <p:cNvSpPr/>
          <p:nvPr/>
        </p:nvSpPr>
        <p:spPr>
          <a:xfrm>
            <a:off x="7719715" y="2223343"/>
            <a:ext cx="47625" cy="17145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4"/>
          <p:cNvSpPr/>
          <p:nvPr/>
        </p:nvSpPr>
        <p:spPr>
          <a:xfrm>
            <a:off x="7795915" y="2128093"/>
            <a:ext cx="47625" cy="26670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4"/>
          <p:cNvSpPr/>
          <p:nvPr/>
        </p:nvSpPr>
        <p:spPr>
          <a:xfrm>
            <a:off x="7872115" y="2185243"/>
            <a:ext cx="47625" cy="20955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4"/>
          <p:cNvSpPr/>
          <p:nvPr/>
        </p:nvSpPr>
        <p:spPr>
          <a:xfrm>
            <a:off x="7948315" y="2089993"/>
            <a:ext cx="47625" cy="30480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4"/>
          <p:cNvSpPr/>
          <p:nvPr/>
        </p:nvSpPr>
        <p:spPr>
          <a:xfrm>
            <a:off x="8024515" y="2242393"/>
            <a:ext cx="47625" cy="15240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4"/>
          <p:cNvSpPr/>
          <p:nvPr/>
        </p:nvSpPr>
        <p:spPr>
          <a:xfrm>
            <a:off x="8186440" y="2042368"/>
            <a:ext cx="1352699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TheOne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4"/>
          <p:cNvSpPr/>
          <p:nvPr/>
        </p:nvSpPr>
        <p:spPr>
          <a:xfrm>
            <a:off x="9615339" y="2042368"/>
            <a:ext cx="991046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Trade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4"/>
          <p:cNvSpPr/>
          <p:nvPr/>
        </p:nvSpPr>
        <p:spPr>
          <a:xfrm>
            <a:off x="5237275" y="2823425"/>
            <a:ext cx="7733100" cy="15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Ready strategy</a:t>
            </a:r>
            <a:endParaRPr b="1" i="0" sz="5100" u="none" cap="none" strike="noStrike">
              <a:solidFill>
                <a:srgbClr val="F0F4F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in 30 seconds.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4"/>
          <p:cNvSpPr/>
          <p:nvPr/>
        </p:nvSpPr>
        <p:spPr>
          <a:xfrm>
            <a:off x="8572500" y="4693890"/>
            <a:ext cx="1143000" cy="28575"/>
          </a:xfrm>
          <a:prstGeom prst="roundRect">
            <a:avLst>
              <a:gd fmla="val 5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4"/>
          <p:cNvSpPr/>
          <p:nvPr/>
        </p:nvSpPr>
        <p:spPr>
          <a:xfrm>
            <a:off x="6374011" y="5103465"/>
            <a:ext cx="5539978" cy="1293316"/>
          </a:xfrm>
          <a:prstGeom prst="roundRect">
            <a:avLst>
              <a:gd fmla="val 883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4"/>
          <p:cNvSpPr/>
          <p:nvPr/>
        </p:nvSpPr>
        <p:spPr>
          <a:xfrm>
            <a:off x="6757636" y="5341590"/>
            <a:ext cx="4772727" cy="85516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npx</a:t>
            </a:r>
            <a:r>
              <a:rPr b="0" i="0" lang="en-US" sz="19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-y @backtest-kit/cli --init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4"/>
          <p:cNvSpPr/>
          <p:nvPr/>
        </p:nvSpPr>
        <p:spPr>
          <a:xfrm>
            <a:off x="4832491" y="6930182"/>
            <a:ext cx="2735973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GITHUB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4"/>
          <p:cNvSpPr/>
          <p:nvPr/>
        </p:nvSpPr>
        <p:spPr>
          <a:xfrm>
            <a:off x="4832491" y="7254032"/>
            <a:ext cx="273597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tripolskypetr/backtest-kit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4"/>
          <p:cNvSpPr/>
          <p:nvPr/>
        </p:nvSpPr>
        <p:spPr>
          <a:xfrm>
            <a:off x="7945096" y="6930182"/>
            <a:ext cx="279637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EMAIL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/>
          <p:nvPr/>
        </p:nvSpPr>
        <p:spPr>
          <a:xfrm>
            <a:off x="7945096" y="7254032"/>
            <a:ext cx="27963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tripolskypetr@gmail.com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4"/>
          <p:cNvSpPr/>
          <p:nvPr/>
        </p:nvSpPr>
        <p:spPr>
          <a:xfrm>
            <a:off x="11119842" y="6930182"/>
            <a:ext cx="233377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DOCUMENTATION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11119842" y="7254032"/>
            <a:ext cx="233377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backtest-kit.github.io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4"/>
          <p:cNvSpPr/>
          <p:nvPr/>
        </p:nvSpPr>
        <p:spPr>
          <a:xfrm>
            <a:off x="3625609" y="8235107"/>
            <a:ext cx="1103663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© 2026 TheOneTrade · Strategies simulated on historical data · Past results do not guarantee future returns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2026-05-22T12:44:03Z</dcterms:created>
  <dc:creator>PptxGenJS</dc:creator>
</cp:coreProperties>
</file>