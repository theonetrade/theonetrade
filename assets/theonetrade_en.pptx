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10287000" cx="18288000"/>
  <p:notesSz cx="10287000" cy="18288000"/>
  <p:embeddedFontLs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ibFpbFLuOSkiny2MByqUDLX4y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slide" Target="slides/slide7.xml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6.xml"/><Relationship Id="rId21" Type="http://schemas.openxmlformats.org/officeDocument/2006/relationships/font" Target="fonts/JetBrains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750" y="9906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504950" y="1009650"/>
            <a:ext cx="106903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TheOne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612082" y="1009650"/>
            <a:ext cx="7877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Trade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2268200" y="952500"/>
            <a:ext cx="4972050" cy="419100"/>
          </a:xfrm>
          <a:prstGeom prst="roundRect">
            <a:avLst>
              <a:gd fmla="val 50000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2449175" y="1123950"/>
            <a:ext cx="76200" cy="7620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2601575" y="1038225"/>
            <a:ext cx="459143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v6.0 · backtest-kit · open source · 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47750" y="1454944"/>
            <a:ext cx="10791825" cy="25067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Trading systems that </a:t>
            </a:r>
            <a:r>
              <a:rPr b="1" i="0" lang="en-US" sz="54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think </a:t>
            </a:r>
            <a:r>
              <a:rPr b="1" i="0" lang="en-US" sz="54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before </a:t>
            </a:r>
            <a:r>
              <a:rPr b="1" i="0" lang="en-US" sz="5400" u="none" cap="none" strike="noStrike">
                <a:solidFill>
                  <a:srgbClr val="EAB308"/>
                </a:solidFill>
                <a:latin typeface="Arial"/>
                <a:ea typeface="Arial"/>
                <a:cs typeface="Arial"/>
                <a:sym typeface="Arial"/>
              </a:rPr>
              <a:t>the trade.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47750" y="4228350"/>
            <a:ext cx="11155200" cy="3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AI-native trading agency with a quant team. We have an open-source runtime (backtest-kit) where LLM reasoning and news sentiment analysis are used to find optimal entry points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47750" y="7705725"/>
            <a:ext cx="3933825" cy="1819275"/>
          </a:xfrm>
          <a:prstGeom prst="roundRect">
            <a:avLst>
              <a:gd fmla="val 628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362075" y="7981950"/>
            <a:ext cx="34043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362075" y="8610600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look-ahead bias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362075" y="9001125"/>
            <a:ext cx="3404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AsyncLocalStorage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133975" y="7705725"/>
            <a:ext cx="3933825" cy="1819275"/>
          </a:xfrm>
          <a:prstGeom prst="roundRect">
            <a:avLst>
              <a:gd fmla="val 628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448300" y="7981950"/>
            <a:ext cx="34043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48300" y="8610600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Sharpe ratio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48300" y="9001125"/>
            <a:ext cx="3404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TRX Jan 2026 case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9220200" y="7705725"/>
            <a:ext cx="3933825" cy="1819275"/>
          </a:xfrm>
          <a:prstGeom prst="roundRect">
            <a:avLst>
              <a:gd fmla="val 628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534525" y="7981950"/>
            <a:ext cx="34043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534525" y="8610600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code parity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534525" y="9001125"/>
            <a:ext cx="3404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backtest = 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3306425" y="7705725"/>
            <a:ext cx="3933825" cy="1819275"/>
          </a:xfrm>
          <a:prstGeom prst="roundRect">
            <a:avLst>
              <a:gd fmla="val 628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13620750" y="7981950"/>
            <a:ext cx="340433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10+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13620750" y="8610600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LLM providers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3620750" y="9001125"/>
            <a:ext cx="3404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OpenAI · Claude · Ollama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1047750" y="952500"/>
            <a:ext cx="1933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47750" y="1581150"/>
            <a:ext cx="13735050" cy="1527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95% of trading bots use the same five strategies from tutorials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047750" y="3451622"/>
            <a:ext cx="762000" cy="28575"/>
          </a:xfrm>
          <a:prstGeom prst="roundRect">
            <a:avLst>
              <a:gd fmla="val 5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047750" y="3861197"/>
            <a:ext cx="8044815" cy="24000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Crypto markets have entered second-order chaos. Thousands of identical RSI / MACD / Bollinger bots execute the same signal in the same 100-millisecond window — they create the very noise they are trying to trade.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47750" y="6489799"/>
            <a:ext cx="8044815" cy="510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The only beneficiary is the exchange fee.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429750" y="3861197"/>
            <a:ext cx="1249710" cy="352425"/>
          </a:xfrm>
          <a:prstGeom prst="roundRect">
            <a:avLst>
              <a:gd fmla="val 16216" name="adj"/>
            </a:avLst>
          </a:prstGeom>
          <a:solidFill>
            <a:srgbClr val="F87171">
              <a:alpha val="12156"/>
            </a:srgbClr>
          </a:solidFill>
          <a:ln cap="flat" cmpd="sng" w="9525">
            <a:solidFill>
              <a:srgbClr val="F8717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591675" y="3927872"/>
            <a:ext cx="1002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RSI · 85%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793760" y="3861197"/>
            <a:ext cx="1352550" cy="352425"/>
          </a:xfrm>
          <a:prstGeom prst="roundRect">
            <a:avLst>
              <a:gd fmla="val 16216" name="adj"/>
            </a:avLst>
          </a:prstGeom>
          <a:solidFill>
            <a:srgbClr val="F87171">
              <a:alpha val="12156"/>
            </a:srgbClr>
          </a:solidFill>
          <a:ln cap="flat" cmpd="sng" w="9525">
            <a:solidFill>
              <a:srgbClr val="F8717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955685" y="3927872"/>
            <a:ext cx="1104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MACD · 78%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2260610" y="3861197"/>
            <a:ext cx="186690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2422535" y="3927872"/>
            <a:ext cx="1619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 cross · 72%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4241810" y="3861197"/>
            <a:ext cx="114687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14403735" y="3927872"/>
            <a:ext cx="8992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BB · 65%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429750" y="4442222"/>
            <a:ext cx="804481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Share of retail bots using each indicator. Combinations are also standard: RSI+MACD is the most popular.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429750" y="5451872"/>
            <a:ext cx="7810500" cy="2000250"/>
          </a:xfrm>
          <a:prstGeom prst="roundRect">
            <a:avLst>
              <a:gd fmla="val 5714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9820275" y="5804297"/>
            <a:ext cx="117351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−18%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5229433" y="5966222"/>
            <a:ext cx="16964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per bot / day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820275" y="6356747"/>
            <a:ext cx="7240334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1,000 identical bots × 100 trades/day × −0.18% per round-trip. Exchange earns +$8,000/day.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1047750" y="952500"/>
            <a:ext cx="1933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47750" y="1581150"/>
            <a:ext cx="16678275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Anatomy of self-destruction: one algorithm against itself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47750" y="2962275"/>
            <a:ext cx="7905750" cy="6219825"/>
          </a:xfrm>
          <a:prstGeom prst="roundRect">
            <a:avLst>
              <a:gd fmla="val 1838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362075" y="3238500"/>
            <a:ext cx="7514273" cy="5705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Every 100ms on the exchange: 09:00.000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BTC drops to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$87,300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09:00.050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1000 bots see: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RSI &lt; 30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"RSI in oversold zone"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"This is a buy signal" 09:00.100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send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BUY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09:00.150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Price spikes to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$87,450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09:00.200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RSI instantly = </a:t>
            </a:r>
            <a:r>
              <a:rPr b="0" i="0" lang="en-US" sz="15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75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"RSI in overbought zone"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 "This is a sell signal" 09:00.250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send </a:t>
            </a:r>
            <a:r>
              <a:rPr b="0" i="0" lang="en-US" sz="15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SELL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09:00.300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Price back to: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$87,300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334500" y="3014663"/>
            <a:ext cx="7905750" cy="1933575"/>
          </a:xfrm>
          <a:prstGeom prst="roundRect">
            <a:avLst>
              <a:gd fmla="val 5911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25025" y="3367088"/>
            <a:ext cx="73384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 PER BOT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725025" y="3709988"/>
            <a:ext cx="73384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3300"/>
              <a:buFont typeface="JetBrains Mono"/>
              <a:buNone/>
            </a:pPr>
            <a:r>
              <a:rPr b="1" i="0" lang="en-US" sz="33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−0.18%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725025" y="4224338"/>
            <a:ext cx="733844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−0.1% spread − 0.08% fees per round-trip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334500" y="5176838"/>
            <a:ext cx="7905750" cy="1933575"/>
          </a:xfrm>
          <a:prstGeom prst="roundRect">
            <a:avLst>
              <a:gd fmla="val 5911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9725025" y="5529263"/>
            <a:ext cx="73384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 FOR EXCHANGE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725025" y="5872163"/>
            <a:ext cx="733844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3300"/>
              <a:buFont typeface="JetBrains Mono"/>
              <a:buNone/>
            </a:pPr>
            <a:r>
              <a:rPr b="1" i="0" lang="en-US" sz="33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+$8,000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725025" y="6386513"/>
            <a:ext cx="733844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0.08% × 1,000 bots × 100 cycles/day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9334500" y="7339012"/>
            <a:ext cx="7905750" cy="1790700"/>
          </a:xfrm>
          <a:prstGeom prst="roundRect">
            <a:avLst>
              <a:gd fmla="val 6383" name="adj"/>
            </a:avLst>
          </a:prstGeom>
          <a:solidFill>
            <a:srgbClr val="131A24"/>
          </a:solidFill>
          <a:ln cap="flat" cmpd="sng" w="9525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725025" y="7691438"/>
            <a:ext cx="73384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PREDICTABLE STOP-LOSSES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725025" y="8034338"/>
            <a:ext cx="733844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90% of bots place SL at ATR × 1.5. Market makers see the clusters and hunt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1047750" y="1638807"/>
            <a:ext cx="2362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METHODOLOGY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047750" y="2153150"/>
            <a:ext cx="16304700" cy="1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Four engineering solutions that </a:t>
            </a:r>
            <a:r>
              <a:rPr b="1" i="0" lang="en-US" sz="54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compound the edge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47750" y="4219961"/>
            <a:ext cx="8829600" cy="28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Strategy alpha decays. The infrastructure beneath it does not. We invest in what makes every iteration verifiable, every signal reproducible, every run seamless.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047750" y="1004887"/>
            <a:ext cx="2362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METHODOLOGY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5990540" y="952500"/>
            <a:ext cx="124971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16152465" y="1019175"/>
            <a:ext cx="1002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 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47750" y="1647825"/>
            <a:ext cx="16678275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Look-ahead bias is architecturally impossible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47750" y="2604046"/>
            <a:ext cx="8103679" cy="19371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Every data request passes through the temporal context </a:t>
            </a:r>
            <a:r>
              <a:rPr b="0" i="0" lang="en-US" sz="24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AsyncLocalStorage </a:t>
            </a: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. The strategy physically cannot access future data — the runtime will deny access.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47750" y="4769793"/>
            <a:ext cx="7867650" cy="3143250"/>
          </a:xfrm>
          <a:prstGeom prst="roundRect">
            <a:avLst>
              <a:gd fmla="val 3636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362075" y="5046018"/>
            <a:ext cx="7475029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No timestamp parameters.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Context is propagated automatically.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c1h  =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50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getCandles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(s,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"1h"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 100); </a:t>
            </a:r>
            <a:endParaRPr b="0" i="0" sz="150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c15m =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50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getCandles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(s,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"15m"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100); </a:t>
            </a:r>
            <a:endParaRPr b="0" i="0" sz="150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c5m  =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50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getCandles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(s,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"5m"</a:t>
            </a:r>
            <a:r>
              <a:rPr b="0" i="0" lang="en-US" sz="150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,  100); </a:t>
            </a:r>
            <a:endParaRPr b="0" i="0" sz="150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→ all three are synchronized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  to the same backtest tick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372600" y="3432721"/>
            <a:ext cx="7867650" cy="1762125"/>
          </a:xfrm>
          <a:prstGeom prst="roundRect">
            <a:avLst>
              <a:gd fmla="val 6486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9686925" y="3747046"/>
            <a:ext cx="2072729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9848850" y="3813721"/>
            <a:ext cx="18250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AsyncLocalStorage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1873954" y="3747046"/>
            <a:ext cx="1969889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2035879" y="3813721"/>
            <a:ext cx="172223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Promise.all-safe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686925" y="4251871"/>
            <a:ext cx="74561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Context is preserved across all async boundaries, including parallel requests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372600" y="5385346"/>
            <a:ext cx="7867650" cy="1447800"/>
          </a:xfrm>
          <a:prstGeom prst="roundRect">
            <a:avLst>
              <a:gd fmla="val 7895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686925" y="5699671"/>
            <a:ext cx="114687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848850" y="5766346"/>
            <a:ext cx="8992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Backtest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948095" y="5699671"/>
            <a:ext cx="83820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1110020" y="5766346"/>
            <a:ext cx="590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Paper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1900595" y="5699671"/>
            <a:ext cx="73536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2062520" y="5766346"/>
            <a:ext cx="4877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686925" y="6204496"/>
            <a:ext cx="74561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Same strategy code. The only difference is the source of </a:t>
            </a:r>
            <a:r>
              <a:rPr b="0" i="0" lang="en-US" sz="165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currentTime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372600" y="7023646"/>
            <a:ext cx="7867650" cy="1672530"/>
          </a:xfrm>
          <a:prstGeom prst="roundRect">
            <a:avLst>
              <a:gd fmla="val 6834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9686925" y="7337971"/>
            <a:ext cx="7456170" cy="3009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Multi-timeframe without errors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9686925" y="7753201"/>
            <a:ext cx="74561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Synchronization of 1h / 15m / 5m data happens automatically through context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1047750" y="1004887"/>
            <a:ext cx="2362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METHODOLOGY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5990540" y="952500"/>
            <a:ext cx="124971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6152465" y="1019175"/>
            <a:ext cx="1002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 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047750" y="1571625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LLM searches news before making a decision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47750" y="3960841"/>
            <a:ext cx="81036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Eight specialized agents query Tavily and open sources for triggers — SEC actions, exchange hacks, presidential statements — over the past 4–12 hours.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47750" y="5903556"/>
            <a:ext cx="81036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Reasoning + Acting (ReAct) </a:t>
            </a:r>
            <a:r>
              <a:rPr b="0" i="0" lang="en-US" sz="21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— the agent alternates between reasoning and acting. Between reasoning steps it searches the news feed.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47750" y="7446318"/>
            <a:ext cx="135255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1209675" y="7512993"/>
            <a:ext cx="1104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 loop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2552700" y="7446318"/>
            <a:ext cx="135255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2714625" y="7512993"/>
            <a:ext cx="1104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Tavily API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057650" y="7446318"/>
            <a:ext cx="166122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4219575" y="7512993"/>
            <a:ext cx="141357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Zod validation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372600" y="3909549"/>
            <a:ext cx="7867800" cy="5208000"/>
          </a:xfrm>
          <a:prstGeom prst="roundRect">
            <a:avLst>
              <a:gd fmla="val 4580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648825" y="4212075"/>
            <a:ext cx="6886800" cy="3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Level 1 — Acute events </a:t>
            </a:r>
            <a:endParaRPr b="0" i="0" sz="135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"BTC news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endParaRPr b="0" i="0" sz="135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"SEC DOJ action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endParaRPr b="0" i="0" sz="135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"exchange hack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endParaRPr b="0" i="0" sz="135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t/>
            </a:r>
            <a:endParaRPr sz="1350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Level 2 — Macro </a:t>
            </a:r>
            <a:endParaRPr b="0" i="0" sz="135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"Fed surprise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endParaRPr b="0" i="0" sz="1350" u="none" cap="none" strike="noStrike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t/>
            </a:r>
            <a:endParaRPr sz="1350">
              <a:solidFill>
                <a:srgbClr val="8B9DB5"/>
              </a:solidFill>
              <a:highlight>
                <a:srgbClr val="131A24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Level 3 — Volume </a:t>
            </a:r>
            <a:endParaRPr b="0" i="0" sz="135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await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350" u="none" cap="none" strike="noStrike">
                <a:solidFill>
                  <a:srgbClr val="7DD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search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"BTC volume spike ${date}"</a:t>
            </a:r>
            <a:r>
              <a:rPr b="0" i="0" lang="en-US" sz="13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1047750" y="1004887"/>
            <a:ext cx="2362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METHODOLOGY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5990540" y="952500"/>
            <a:ext cx="124971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6152465" y="1019175"/>
            <a:ext cx="1002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 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047750" y="1647825"/>
            <a:ext cx="16678275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Pine Script runs where TradingView is unavailable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047750" y="2604046"/>
            <a:ext cx="8103679" cy="1927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PineTS executes .pine files locally on any data. Strategies built for BTC on Binance deploy unchanged on emerging market exchanges.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047750" y="4760268"/>
            <a:ext cx="7867650" cy="2819400"/>
          </a:xfrm>
          <a:prstGeom prst="roundRect">
            <a:avLst>
              <a:gd fmla="val 4054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362075" y="5036493"/>
            <a:ext cx="7475029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npm start -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--pine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./math/feb_2026.pine </a:t>
            </a:r>
            <a:endParaRPr b="0" i="0" sz="1500" u="none" cap="none" strike="noStrike">
              <a:solidFill>
                <a:srgbClr val="EAB3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--timeframe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15m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--limit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500</a:t>
            </a:r>
            <a:endParaRPr sz="1500">
              <a:solidFill>
                <a:srgbClr val="EAB3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--when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"2026-02-28T00:00:00Z"</a:t>
            </a:r>
            <a:endParaRPr sz="1500">
              <a:solidFill>
                <a:srgbClr val="EAB3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--jsonl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→ dump for LLM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372600" y="3368873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9610725" y="3606998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UZSE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610725" y="3949898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Uzbekistan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610725" y="4416623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9715500" y="4454723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3373100" y="3368873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3611225" y="3606998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3611225" y="3949898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Mongolia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3611225" y="4416623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3716000" y="4454723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372600" y="5035748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9610725" y="5273873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610725" y="5616773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Dhaka, Bangladesh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9610725" y="6083498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9715500" y="6121598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3373100" y="5035748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3611225" y="5273873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3611225" y="5616773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Ghana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3611225" y="6083498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13716000" y="6121598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9372600" y="6702623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9610725" y="6940748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SGBV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610725" y="7283648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Algeria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610725" y="7750373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9715500" y="7788473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3373100" y="6702623"/>
            <a:ext cx="3867150" cy="1533525"/>
          </a:xfrm>
          <a:prstGeom prst="roundRect">
            <a:avLst>
              <a:gd fmla="val 745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13611225" y="6940748"/>
            <a:ext cx="34926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3611225" y="7283648"/>
            <a:ext cx="349262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Botswana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3611225" y="7750373"/>
            <a:ext cx="529679" cy="247650"/>
          </a:xfrm>
          <a:prstGeom prst="roundRect">
            <a:avLst>
              <a:gd fmla="val 23077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13716000" y="7788473"/>
            <a:ext cx="39632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254585" y="8388548"/>
            <a:ext cx="810367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60+ indicators · Pine Script v5/v6 · JSONL-native output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/>
          <p:nvPr/>
        </p:nvSpPr>
        <p:spPr>
          <a:xfrm>
            <a:off x="1047750" y="1004887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CASE STUDIES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4653171" y="952500"/>
            <a:ext cx="2587079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14815096" y="1019175"/>
            <a:ext cx="234084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February 2026 · BTCUSDT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047750" y="1609725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AI workflow for liquidation cascades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047750" y="2484090"/>
            <a:ext cx="8103679" cy="16912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Claude Code analyzes news, price correlation and formulates a hypothesis — no iterative brute-force. The strategy explains market mechanics rather than hunting random correlations.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47750" y="4403973"/>
            <a:ext cx="133350" cy="13335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409700" y="4327773"/>
            <a:ext cx="4203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Feb 5 — Flash crash ($60K)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409700" y="4699248"/>
            <a:ext cx="4203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V-bounce +15%, $700M in liquidations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047750" y="5261223"/>
            <a:ext cx="133350" cy="13335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409700" y="5185023"/>
            <a:ext cx="363135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Feb 10 — Secondary cascade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409700" y="5556498"/>
            <a:ext cx="363135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$71K → $67K, ETF outflows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47750" y="6118473"/>
            <a:ext cx="133350" cy="133350"/>
          </a:xfrm>
          <a:prstGeom prst="ellipse">
            <a:avLst/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409700" y="6042273"/>
            <a:ext cx="319278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Feb 23 — Tariff shock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409700" y="6413748"/>
            <a:ext cx="319278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$67.7K → $62.5K, bounce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47750" y="6975723"/>
            <a:ext cx="810367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Strategy: LONG after liquidation spike (ATR × 2 + Volume × 1.8). Fixed exits: TP +1.5%, SL −0.8%.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9372600" y="3889921"/>
            <a:ext cx="3857625" cy="1400175"/>
          </a:xfrm>
          <a:prstGeom prst="roundRect">
            <a:avLst>
              <a:gd fmla="val 816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9648825" y="4166146"/>
            <a:ext cx="340433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+4.28%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648825" y="4718596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Total PNL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3382625" y="3889921"/>
            <a:ext cx="3857625" cy="1400175"/>
          </a:xfrm>
          <a:prstGeom prst="roundRect">
            <a:avLst>
              <a:gd fmla="val 816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13658850" y="4166146"/>
            <a:ext cx="340433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83.3%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3658850" y="4718596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Win Rate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9372600" y="5442496"/>
            <a:ext cx="3857625" cy="1400175"/>
          </a:xfrm>
          <a:prstGeom prst="roundRect">
            <a:avLst>
              <a:gd fmla="val 816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9648825" y="5718721"/>
            <a:ext cx="340433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4.58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648825" y="6271171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Profit Factor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3382625" y="5442496"/>
            <a:ext cx="3857625" cy="1400175"/>
          </a:xfrm>
          <a:prstGeom prst="roundRect">
            <a:avLst>
              <a:gd fmla="val 8163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13658850" y="5718721"/>
            <a:ext cx="340433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600"/>
              <a:buFont typeface="JetBrains Mono"/>
              <a:buNone/>
            </a:pPr>
            <a:r>
              <a:rPr b="1" i="0" lang="en-US" sz="36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3658850" y="6271171"/>
            <a:ext cx="34043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Max Drawdown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9372600" y="6995075"/>
            <a:ext cx="7867800" cy="1262400"/>
          </a:xfrm>
          <a:prstGeom prst="roundRect">
            <a:avLst>
              <a:gd fmla="val 1016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9648825" y="7195096"/>
            <a:ext cx="75346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SHARPE RATIO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9648825" y="7537996"/>
            <a:ext cx="753465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3000"/>
              <a:buFont typeface="JetBrains Mono"/>
              <a:buNone/>
            </a:pPr>
            <a:r>
              <a:rPr b="1" i="0" lang="en-US" sz="30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0.84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1" name="Google Shape;2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1047750" y="1004887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CASE STUDIES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4756011" y="952500"/>
            <a:ext cx="2484239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4917936" y="1019175"/>
            <a:ext cx="22365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January 2026 · TRXUSDT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047750" y="1609725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Inversion of the liquidity harvesting algorithm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047750" y="2484090"/>
            <a:ext cx="9724293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A Telegram channel recommends SHORT with x25 leverage — exactly at the 4H candle low. OSINT analysis reveals an algorithmic pattern whose inversion yields consistent profit.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1047750" y="4538365"/>
            <a:ext cx="85725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276350" y="4143077"/>
            <a:ext cx="4762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905000" y="4538365"/>
            <a:ext cx="8583811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2133600" y="4143077"/>
            <a:ext cx="8384125" cy="280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047750" y="5224165"/>
            <a:ext cx="85725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1276350" y="4719340"/>
            <a:ext cx="476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905000" y="5224165"/>
            <a:ext cx="8583811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2133600" y="4719340"/>
            <a:ext cx="83841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Export all public signals with timestamps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47750" y="6167140"/>
            <a:ext cx="85725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1276350" y="5405140"/>
            <a:ext cx="47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905000" y="6167140"/>
            <a:ext cx="8583811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2133600" y="5405140"/>
            <a:ext cx="8384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Algorithm identified: TP multipliers are always ×1.52→×1.74→×1.47→×1.50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047750" y="7110115"/>
            <a:ext cx="85725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276350" y="6348115"/>
            <a:ext cx="476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905000" y="7110115"/>
            <a:ext cx="8583811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2133600" y="6348115"/>
            <a:ext cx="8384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Volume anomaly 15 min before each post — channel opens positions before publishing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276350" y="7291090"/>
            <a:ext cx="476250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JetBrains Mono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2133600" y="7291090"/>
            <a:ext cx="8384125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Invert the position, filter by midpoint of the 4H range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0946011" y="3389858"/>
            <a:ext cx="6294239" cy="1628775"/>
          </a:xfrm>
          <a:prstGeom prst="roundRect">
            <a:avLst>
              <a:gd fmla="val 7018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11336536" y="3742283"/>
            <a:ext cx="567858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+8.54%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1336536" y="4370933"/>
            <a:ext cx="5678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Portfolio PnL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0946011" y="5171033"/>
            <a:ext cx="6294239" cy="1628775"/>
          </a:xfrm>
          <a:prstGeom prst="roundRect">
            <a:avLst>
              <a:gd fmla="val 7018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1336536" y="5523458"/>
            <a:ext cx="567858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4200"/>
              <a:buFont typeface="JetBrains Mono"/>
              <a:buNone/>
            </a:pPr>
            <a:r>
              <a:rPr b="1" i="0" lang="en-US" sz="42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1336536" y="6152108"/>
            <a:ext cx="56785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Sharpe Ratio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0946011" y="6952208"/>
            <a:ext cx="3089970" cy="1666875"/>
          </a:xfrm>
          <a:prstGeom prst="roundRect">
            <a:avLst>
              <a:gd fmla="val 6857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11184136" y="7190333"/>
            <a:ext cx="269213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8/8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1184136" y="7638008"/>
            <a:ext cx="269213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inverted signals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4150280" y="6952208"/>
            <a:ext cx="3089970" cy="1666875"/>
          </a:xfrm>
          <a:prstGeom prst="roundRect">
            <a:avLst>
              <a:gd fmla="val 6857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14388405" y="7190333"/>
            <a:ext cx="2692131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 45 минlt; 45 min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4388405" y="7638008"/>
            <a:ext cx="26921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hold time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2" name="Google Shape;2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1047750" y="1004887"/>
            <a:ext cx="1504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CASE STUDIES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4756011" y="952500"/>
            <a:ext cx="2484239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14917936" y="1019175"/>
            <a:ext cx="22365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April 2026 · BTCUSDT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047750" y="1609725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Three agent decisions during the Iran crisis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1047750" y="2484090"/>
            <a:ext cx="98107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Real outputs of the ReAct pipeline — news search, contradiction assessment, one signal with written reasoning.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1047750" y="3560415"/>
            <a:ext cx="5245001" cy="5964585"/>
          </a:xfrm>
          <a:prstGeom prst="roundRect">
            <a:avLst>
              <a:gd fmla="val 217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1438275" y="3912840"/>
            <a:ext cx="18593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APRIL 5,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438275" y="4274790"/>
            <a:ext cx="459786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US Ultimatum to Iran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438275" y="6216551"/>
            <a:ext cx="4597869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Geopolitics creates uncertainty. RSI=44, volume low, Fear&amp;Greed=12. Signals are contradictory.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438275" y="8686800"/>
            <a:ext cx="979289" cy="485775"/>
          </a:xfrm>
          <a:prstGeom prst="roundRect">
            <a:avLst>
              <a:gd fmla="val 11765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1676400" y="8791575"/>
            <a:ext cx="5792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650"/>
              <a:buFont typeface="JetBrains Mono"/>
              <a:buNone/>
            </a:pPr>
            <a:r>
              <a:rPr b="1" i="0" lang="en-US" sz="16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64856" y="8743950"/>
            <a:ext cx="14135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conf: 67%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521351" y="3560415"/>
            <a:ext cx="5245150" cy="5964585"/>
          </a:xfrm>
          <a:prstGeom prst="roundRect">
            <a:avLst>
              <a:gd fmla="val 2179" name="adj"/>
            </a:avLst>
          </a:prstGeom>
          <a:solidFill>
            <a:srgbClr val="131A24"/>
          </a:solidFill>
          <a:ln cap="flat" cmpd="sng" w="9525">
            <a:solidFill>
              <a:srgbClr val="2DD4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911876" y="3912840"/>
            <a:ext cx="18593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APRIL 8,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911876" y="4274790"/>
            <a:ext cx="45980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Two-week ceasefire with Iran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911876" y="6366570"/>
            <a:ext cx="459802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Rally to $72K, $425M in short liquidations, volume &gt;2M BTC/hour. Sharp bullish impulse.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911876" y="8686800"/>
            <a:ext cx="853529" cy="485775"/>
          </a:xfrm>
          <a:prstGeom prst="roundRect">
            <a:avLst>
              <a:gd fmla="val 11765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7150001" y="8791575"/>
            <a:ext cx="45347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650"/>
              <a:buFont typeface="JetBrains Mono"/>
              <a:buNone/>
            </a:pPr>
            <a:r>
              <a:rPr b="1" i="0" lang="en-US" sz="16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10038606" y="8743950"/>
            <a:ext cx="14135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conf: 91%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11995100" y="3560415"/>
            <a:ext cx="5245150" cy="5964585"/>
          </a:xfrm>
          <a:prstGeom prst="roundRect">
            <a:avLst>
              <a:gd fmla="val 217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12385625" y="3912840"/>
            <a:ext cx="18593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APRIL 9,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2385625" y="4274790"/>
            <a:ext cx="4598023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Quantum threats + miner selling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2385625" y="6402288"/>
            <a:ext cx="4598023" cy="938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575"/>
              <a:buFont typeface="Arial"/>
              <a:buNone/>
            </a:pPr>
            <a:r>
              <a:rPr b="0" i="0" lang="en-US" sz="1575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Break above $71K, but strong bearish factors: hash rate falling, put options dominate (premium ~17%).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12385625" y="8686800"/>
            <a:ext cx="979289" cy="485775"/>
          </a:xfrm>
          <a:prstGeom prst="roundRect">
            <a:avLst>
              <a:gd fmla="val 11765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12623750" y="8791575"/>
            <a:ext cx="5792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650"/>
              <a:buFont typeface="JetBrains Mono"/>
              <a:buNone/>
            </a:pPr>
            <a:r>
              <a:rPr b="1" i="0" lang="en-US" sz="16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15512355" y="8743950"/>
            <a:ext cx="14135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conf: 73%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4" name="Google Shape;3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1"/>
          <p:cNvSpPr/>
          <p:nvPr/>
        </p:nvSpPr>
        <p:spPr>
          <a:xfrm>
            <a:off x="1047750" y="952500"/>
            <a:ext cx="1362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1047750" y="1543050"/>
            <a:ext cx="16678275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Open stack: from signal to execution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1047750" y="3259325"/>
            <a:ext cx="7998600" cy="5505600"/>
          </a:xfrm>
          <a:prstGeom prst="roundRect">
            <a:avLst>
              <a:gd fmla="val 2076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1362075" y="3535550"/>
            <a:ext cx="786750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github.com/tripolskypetr/backtest-kit v6.0.0 · MIT 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backtest-kit/ </a:t>
            </a:r>
            <a:endParaRPr b="0" i="0" sz="1500" u="none" cap="none" strike="noStrike">
              <a:solidFill>
                <a:srgbClr val="8B9DB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@backtest-kit/cli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scaffold·dump·backtest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@backtest-kit/pinets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Pine Script runtime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@backtest-kit/graph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reactive source/output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@backtest-kit/ui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trade lifecycle UI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@backtest-kit/ollama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10+ LLM providers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agent-swarm-kit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 + tool-calling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functools-kit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Cache·str·AsyncLocal </a:t>
            </a:r>
            <a:endParaRPr b="0" i="0" sz="1500" u="none" cap="none" strike="noStrike">
              <a:solidFill>
                <a:srgbClr val="5A6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 </a:t>
            </a:r>
            <a:r>
              <a:rPr b="0" i="0" lang="en-US" sz="150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garch</a:t>
            </a:r>
            <a:r>
              <a:rPr b="0" i="0" lang="en-US" sz="1500" u="none" cap="none" strike="noStrike">
                <a:solidFill>
                  <a:srgbClr val="8B9DB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</a:t>
            </a: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GARCH volatility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372600" y="3089970"/>
            <a:ext cx="7867650" cy="2030611"/>
          </a:xfrm>
          <a:prstGeom prst="roundRect">
            <a:avLst>
              <a:gd fmla="val 562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9686925" y="3404295"/>
            <a:ext cx="745617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Self-validating runtime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9686925" y="3863280"/>
            <a:ext cx="745617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Look-ahead bias, missing SL, incorrect R:R — all caught by Zod validators and AsyncLocalStorage before signal dispatch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372600" y="5311080"/>
            <a:ext cx="7867650" cy="1716286"/>
          </a:xfrm>
          <a:prstGeom prst="roundRect">
            <a:avLst>
              <a:gd fmla="val 6660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9686925" y="5625405"/>
            <a:ext cx="745617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Parallel execution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9686925" y="6084391"/>
            <a:ext cx="74561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Hundreds of strategies run through a shared exchange handler, shared risk validator pool, shared queue. Monorepo architecture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9372600" y="7217866"/>
            <a:ext cx="7867650" cy="1716286"/>
          </a:xfrm>
          <a:prstGeom prst="roundRect">
            <a:avLst>
              <a:gd fmla="val 6660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9686925" y="7532191"/>
            <a:ext cx="7456170" cy="3446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JSONL-native logs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9686925" y="7991177"/>
            <a:ext cx="74561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Every tick, every reasoning chain, every risk rejection — in JSON Lines format. Claude Code reads them directly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3" name="Google Shape;3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/>
          <p:nvPr/>
        </p:nvSpPr>
        <p:spPr>
          <a:xfrm>
            <a:off x="1047750" y="952500"/>
            <a:ext cx="1647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SERVICES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1047750" y="1543050"/>
            <a:ext cx="16678275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Five service lines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1047750" y="4214217"/>
            <a:ext cx="1619250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1047750" y="2799755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695450" y="2799755"/>
            <a:ext cx="1434331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AI Strategy Development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1695450" y="3204567"/>
            <a:ext cx="14343317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Collaborative strategy development: market structure analysis, hypothesis formulation, Pine Script, calendar-frame validation. Monthly recalibration.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5887700" y="3197423"/>
            <a:ext cx="135255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6049625" y="3264098"/>
            <a:ext cx="1104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047750" y="5533430"/>
            <a:ext cx="1619250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1047750" y="4490442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695450" y="4490442"/>
            <a:ext cx="1466109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Discretionary Asset Management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695450" y="4895255"/>
            <a:ext cx="146610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Strategy deployment under your mandate. JSONL audit of every trade, real-time dashboard. Min. $250K AUM.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6196221" y="4702373"/>
            <a:ext cx="1044029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16358146" y="4769048"/>
            <a:ext cx="7963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Managed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047750" y="6852642"/>
            <a:ext cx="1619250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1047750" y="5809655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1695450" y="5809655"/>
            <a:ext cx="1455516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Quant Team Training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1695450" y="6214467"/>
            <a:ext cx="145551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Workshops: AsyncLocalStorage, ReAct agents, Pine Script → TypeScript, swarm-kit deployment. 2/5-day intensives.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16093380" y="6021586"/>
            <a:ext cx="114687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16255305" y="6088261"/>
            <a:ext cx="8992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1047750" y="8171855"/>
            <a:ext cx="16192500" cy="9525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1047750" y="7128867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1695450" y="7128867"/>
            <a:ext cx="13919461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Emerging Market Integration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1695450" y="7533680"/>
            <a:ext cx="1391946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Scraping, candle synthesis, data pipeline for 8 exchanges without TradingView: UZSE, MSE, DSE, GSE and others.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15476190" y="7340798"/>
            <a:ext cx="1764060" cy="352425"/>
          </a:xfrm>
          <a:prstGeom prst="roundRect">
            <a:avLst>
              <a:gd fmla="val 16216" name="adj"/>
            </a:avLst>
          </a:prstGeom>
          <a:solidFill>
            <a:srgbClr val="EAB308">
              <a:alpha val="12156"/>
            </a:srgbClr>
          </a:solidFill>
          <a:ln cap="flat" cmpd="sng" w="9525">
            <a:solidFill>
              <a:srgbClr val="EAB30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15638115" y="7407473"/>
            <a:ext cx="15164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EAB3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Infrastructure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047750" y="8448080"/>
            <a:ext cx="45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1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1695450" y="8448080"/>
            <a:ext cx="1455516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backtest-kit Enterprise License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1695450" y="8852892"/>
            <a:ext cx="145551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DB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8B9DB5"/>
                </a:solidFill>
                <a:latin typeface="Arial"/>
                <a:ea typeface="Arial"/>
                <a:cs typeface="Arial"/>
                <a:sym typeface="Arial"/>
              </a:rPr>
              <a:t>Commercial license, priority support, custom risk validators, SLA deployment. Self-hosted or cloud.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16093380" y="8660011"/>
            <a:ext cx="1146870" cy="352425"/>
          </a:xfrm>
          <a:prstGeom prst="roundRect">
            <a:avLst>
              <a:gd fmla="val 16216" name="adj"/>
            </a:avLst>
          </a:prstGeom>
          <a:solidFill>
            <a:srgbClr val="2DD4A8">
              <a:alpha val="14901"/>
            </a:srgbClr>
          </a:solidFill>
          <a:ln cap="flat" cmpd="sng" w="9525">
            <a:solidFill>
              <a:srgbClr val="2DD4A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16255305" y="8726686"/>
            <a:ext cx="8992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350"/>
              <a:buFont typeface="JetBrains Mono"/>
              <a:buNone/>
            </a:pPr>
            <a:r>
              <a:rPr b="0" i="0" lang="en-US" sz="13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0" name="Google Shape;3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048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3"/>
          <p:cNvSpPr/>
          <p:nvPr/>
        </p:nvSpPr>
        <p:spPr>
          <a:xfrm>
            <a:off x="1047750" y="952500"/>
            <a:ext cx="2505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RESEARCH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047750" y="1543050"/>
            <a:ext cx="16678275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10 research articles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1047750" y="24555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1285875" y="28031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796504" y="2693640"/>
            <a:ext cx="383293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Look-Ahead Bias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1796504" y="3065115"/>
            <a:ext cx="38329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AsyncLocalStorage as temporal context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9220200" y="24555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9458325" y="28031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9968954" y="2693640"/>
            <a:ext cx="340356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Second-Order Chaos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9968954" y="3065115"/>
            <a:ext cx="340356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Why 1000 RSI bots lose 18%/day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1047750" y="365566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"/>
          <p:cNvSpPr/>
          <p:nvPr/>
        </p:nvSpPr>
        <p:spPr>
          <a:xfrm>
            <a:off x="1285875" y="400332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1796504" y="3893790"/>
            <a:ext cx="39615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AI Gets Hands for Trading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1796504" y="4265265"/>
            <a:ext cx="3961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Claude Code + local Pine Script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9220200" y="365566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9458325" y="400332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9968954" y="3893790"/>
            <a:ext cx="436041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Why the Price Drops in a Single Candle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9968954" y="4265265"/>
            <a:ext cx="43604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Gamma convexity and liquidation cascades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047750" y="48558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1285875" y="52034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796504" y="5093940"/>
            <a:ext cx="336922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AI Workflow for Cascades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1796504" y="5465415"/>
            <a:ext cx="336922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Claude /loop, calendar-month strategies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220200" y="48558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9458325" y="52034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9968954" y="5093940"/>
            <a:ext cx="347714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News Sentiment AI Blueprint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9968954" y="5465415"/>
            <a:ext cx="34771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ReAct pattern for trading signals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047750" y="605596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1285875" y="640362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1796504" y="6294090"/>
            <a:ext cx="418121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News Sentiment as a Signal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1796504" y="6665565"/>
            <a:ext cx="41812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Vector search, 24-hour window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9220200" y="605596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9458325" y="640362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9968954" y="6294090"/>
            <a:ext cx="354336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Liquidity Harvesting Machine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9968954" y="6665565"/>
            <a:ext cx="354336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Telegram channel inversion, Sharpe 1.08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1047750" y="72561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1285875" y="76037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796504" y="7494240"/>
            <a:ext cx="477047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Pine Script on Exchanges Without TradingView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1796504" y="7865715"/>
            <a:ext cx="477047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UZSE, MSE, DSE — 8 regional exchanges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9220200" y="7256115"/>
            <a:ext cx="8020050" cy="1047750"/>
          </a:xfrm>
          <a:prstGeom prst="roundRect">
            <a:avLst>
              <a:gd fmla="val 10909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9458325" y="7603778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100"/>
              <a:buFont typeface="JetBrains Mono"/>
              <a:buNone/>
            </a:pPr>
            <a:r>
              <a:rPr b="1" i="0" lang="en-US" sz="210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9968954" y="7494240"/>
            <a:ext cx="443292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Why Your Broker Froze Your Deposit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9968954" y="7865715"/>
            <a:ext cx="443292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DCA, averaging and hidden drawdowns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7719715" y="2223343"/>
            <a:ext cx="47625" cy="17145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7795915" y="2128093"/>
            <a:ext cx="47625" cy="26670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7872115" y="2185243"/>
            <a:ext cx="47625" cy="20955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7948315" y="2089993"/>
            <a:ext cx="47625" cy="30480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8024515" y="2242393"/>
            <a:ext cx="47625" cy="152400"/>
          </a:xfrm>
          <a:prstGeom prst="roundRect">
            <a:avLst>
              <a:gd fmla="val 4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8186440" y="2042368"/>
            <a:ext cx="1352699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TheOne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9615339" y="2042368"/>
            <a:ext cx="99104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Trade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5237275" y="2823425"/>
            <a:ext cx="7733100" cy="1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Ready strategy</a:t>
            </a:r>
            <a:endParaRPr b="1" sz="5100">
              <a:solidFill>
                <a:srgbClr val="F0F4F8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2DD4A8"/>
                </a:solidFill>
                <a:latin typeface="Arial"/>
                <a:ea typeface="Arial"/>
                <a:cs typeface="Arial"/>
                <a:sym typeface="Arial"/>
              </a:rPr>
              <a:t>in 30 seconds.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8572500" y="4693890"/>
            <a:ext cx="1143000" cy="28575"/>
          </a:xfrm>
          <a:prstGeom prst="roundRect">
            <a:avLst>
              <a:gd fmla="val 50000" name="adj"/>
            </a:avLst>
          </a:prstGeom>
          <a:solidFill>
            <a:srgbClr val="2DD4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6374011" y="5103465"/>
            <a:ext cx="5539978" cy="1293316"/>
          </a:xfrm>
          <a:prstGeom prst="roundRect">
            <a:avLst>
              <a:gd fmla="val 8838" name="adj"/>
            </a:avLst>
          </a:prstGeom>
          <a:solidFill>
            <a:srgbClr val="131A24"/>
          </a:solidFill>
          <a:ln cap="flat" cmpd="sng" w="9525">
            <a:solidFill>
              <a:srgbClr val="1E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4"/>
          <p:cNvSpPr/>
          <p:nvPr/>
        </p:nvSpPr>
        <p:spPr>
          <a:xfrm>
            <a:off x="6757636" y="5341590"/>
            <a:ext cx="4772727" cy="8551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2DD4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npx</a:t>
            </a:r>
            <a:r>
              <a:rPr b="0" i="0" lang="en-US" sz="1950" u="none" cap="none" strike="noStrike">
                <a:solidFill>
                  <a:srgbClr val="8B9DB5"/>
                </a:solidFill>
                <a:highlight>
                  <a:srgbClr val="131A24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-y @backtest-kit/cli --init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4832491" y="6930182"/>
            <a:ext cx="27359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832491" y="7254032"/>
            <a:ext cx="273597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tripolskypetr/backtest-kit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7945096" y="6930182"/>
            <a:ext cx="279637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EMAIL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7945096" y="7254032"/>
            <a:ext cx="27963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tripolskypetr@gmail.com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11119842" y="6930182"/>
            <a:ext cx="233377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5A6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DOCUMENTATION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11119842" y="7254032"/>
            <a:ext cx="233377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backtest-kit.github.io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3625609" y="8235107"/>
            <a:ext cx="110366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8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A6F87"/>
                </a:solidFill>
                <a:latin typeface="Arial"/>
                <a:ea typeface="Arial"/>
                <a:cs typeface="Arial"/>
                <a:sym typeface="Arial"/>
              </a:rPr>
              <a:t>© 2026 TheOneTrade · Strategies simulated on historical data · Past results do not guarantee future returns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2026-05-22T12:44:03Z</dcterms:created>
  <dc:creator>PptxGenJS</dc:creator>
</cp:coreProperties>
</file>